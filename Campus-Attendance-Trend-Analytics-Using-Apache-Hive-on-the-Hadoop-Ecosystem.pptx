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IBM Plex Sans" panose="020B0503050203000203" pitchFamily="34" charset="0"/>
      <p:regular r:id="rId17"/>
      <p:bold r:id="rId18"/>
    </p:embeddedFont>
    <p:embeddedFont>
      <p:font typeface="IBM Plex Sans Bold" panose="020B0803050203000203" charset="0"/>
      <p:regular r:id="rId19"/>
    </p:embeddedFont>
    <p:embeddedFont>
      <p:font typeface="IBM Plex Sans SemiBold" panose="020B0703050203000203" pitchFamily="34" charset="0"/>
      <p:bold r:id="rId20"/>
    </p:embeddedFont>
    <p:embeddedFont>
      <p:font typeface="Sora Bold"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6916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assessment title, institution, department, and team members. State the core goal: building an end-to-end big data pipeline for academic attendance analytics using Hadoop and Hive.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core pain points: manual spreadsheets fail at scale. Highlight the core project objectives of running structured queries over HDFS data to flag shortage cases automatically.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7-stage pipeline: CSV attendance data → cleaning and validation → HDFS → Hive external table → HiveQL aggregation → results/charts → interpretation. A single-node academic setup is sufficient.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sequential steps from raw file staging to querying. Point out the HiveQL DDL command and explain how the CASE statement converts categorical status values into numeric percentages.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analytical tracks. Highlight the shortage detection query with its HAVING clause, which allows faculty to immediately identify at-risk students.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reviewers that exact figures are populated after the terminal run. Review the verification checklist to confirm that NameNode, HDFS, and Hive logs match the expected rubric.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the faculty through the live lab demo. Point out that each stage corresponds to an explicit shell or Hive command to ensure a seamless defense.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balanced evaluation: a real-world academic problem, Hadoop ecosystem usage, SQL-like analytics, a scalable concept and extensibility; note the single-node, data-quality, descriptive-analysis, synthetic-data and production privacy/security limitations; then outline the dashboard, ingestion, semester comparison, alerts, Spark/ML prediction and multi-node/cloud enhancements.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presentation by summarizing the complete engineering lifecycle from problem statement to institutional action, and cite the primary big data references and course documentation.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2F4ED"/>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721407" cy="6858000"/>
          </a:xfrm>
          <a:prstGeom prst="rect">
            <a:avLst/>
          </a:prstGeom>
          <a:solidFill>
            <a:srgbClr val="083C35"/>
          </a:solidFill>
          <a:ln/>
        </p:spPr>
      </p:sp>
      <p:sp>
        <p:nvSpPr>
          <p:cNvPr id="3" name="Text 1"/>
          <p:cNvSpPr/>
          <p:nvPr/>
        </p:nvSpPr>
        <p:spPr>
          <a:xfrm>
            <a:off x="584185" y="567880"/>
            <a:ext cx="7137221"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0"/>
              </a:rPr>
              <a:t>BIG DATA ANALYTICS · ACTIVITY BASED ASSESSMENT</a:t>
            </a:r>
            <a:endParaRPr lang="en-US" sz="1100" dirty="0"/>
          </a:p>
        </p:txBody>
      </p:sp>
      <p:sp>
        <p:nvSpPr>
          <p:cNvPr id="4" name="Text 2"/>
          <p:cNvSpPr/>
          <p:nvPr/>
        </p:nvSpPr>
        <p:spPr>
          <a:xfrm>
            <a:off x="584185" y="867573"/>
            <a:ext cx="6680033" cy="2045891"/>
          </a:xfrm>
          <a:prstGeom prst="rect">
            <a:avLst/>
          </a:prstGeom>
          <a:noFill/>
          <a:ln/>
        </p:spPr>
        <p:txBody>
          <a:bodyPr wrap="square" lIns="0" tIns="0" rIns="0" bIns="0" rtlCol="0" anchor="t">
            <a:normAutofit/>
          </a:bodyPr>
          <a:lstStyle/>
          <a:p>
            <a:pPr marL="0" indent="0" algn="l">
              <a:lnSpc>
                <a:spcPct val="88000"/>
              </a:lnSpc>
              <a:buNone/>
            </a:pPr>
            <a:r>
              <a:rPr lang="en-US" sz="3800" b="1" kern="100" spc="-76" dirty="0">
                <a:solidFill>
                  <a:srgbClr val="FFFFFF"/>
                </a:solidFill>
                <a:latin typeface="Sora Bold" pitchFamily="34" charset="0"/>
                <a:ea typeface="Sora Bold" pitchFamily="34" charset="-122"/>
                <a:cs typeface="Sora Bold" pitchFamily="34" charset="0"/>
              </a:rPr>
              <a:t>Campus Attendance Trend Analytics Using Apache Hive on the Hadoop Ecosystem</a:t>
            </a:r>
            <a:endParaRPr lang="en-US" sz="3800" dirty="0"/>
          </a:p>
        </p:txBody>
      </p:sp>
      <p:sp>
        <p:nvSpPr>
          <p:cNvPr id="5" name="Text 3"/>
          <p:cNvSpPr/>
          <p:nvPr/>
        </p:nvSpPr>
        <p:spPr>
          <a:xfrm>
            <a:off x="584185" y="3118314"/>
            <a:ext cx="6680033" cy="603448"/>
          </a:xfrm>
          <a:prstGeom prst="rect">
            <a:avLst/>
          </a:prstGeom>
          <a:noFill/>
          <a:ln/>
        </p:spPr>
        <p:txBody>
          <a:bodyPr wrap="square" lIns="0" tIns="0" rIns="0" bIns="0" rtlCol="0" anchor="t">
            <a:normAutofit/>
          </a:bodyPr>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0"/>
              </a:rPr>
              <a:t>Scalable student attendance profiling and reporting across the Hadoop ecosystem.</a:t>
            </a:r>
            <a:endParaRPr lang="en-US" sz="1800" dirty="0"/>
          </a:p>
        </p:txBody>
      </p:sp>
      <p:sp>
        <p:nvSpPr>
          <p:cNvPr id="6" name="Shape 4"/>
          <p:cNvSpPr/>
          <p:nvPr/>
        </p:nvSpPr>
        <p:spPr>
          <a:xfrm>
            <a:off x="584185" y="4089400"/>
            <a:ext cx="6680033" cy="2286000"/>
          </a:xfrm>
          <a:prstGeom prst="roundRect">
            <a:avLst>
              <a:gd name="adj" fmla="val 3967"/>
            </a:avLst>
          </a:prstGeom>
          <a:solidFill>
            <a:srgbClr val="FFFFFF"/>
          </a:solidFill>
          <a:ln w="25399">
            <a:solidFill>
              <a:srgbClr val="CBCFC0"/>
            </a:solidFill>
            <a:prstDash val="solid"/>
          </a:ln>
        </p:spPr>
      </p:sp>
      <p:sp>
        <p:nvSpPr>
          <p:cNvPr id="7" name="Text 5"/>
          <p:cNvSpPr/>
          <p:nvPr/>
        </p:nvSpPr>
        <p:spPr>
          <a:xfrm>
            <a:off x="787380" y="4247134"/>
            <a:ext cx="6476838" cy="245269"/>
          </a:xfrm>
          <a:prstGeom prst="rect">
            <a:avLst/>
          </a:prstGeom>
          <a:noFill/>
          <a:ln/>
        </p:spPr>
        <p:txBody>
          <a:bodyPr wrap="none" lIns="0" tIns="0" rIns="0" bIns="0" rtlCol="0" anchor="t"/>
          <a:lstStyle/>
          <a:p>
            <a:pPr marL="0" indent="0" algn="ctr">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Vidyavardhaka College of Engineering, Mysuru</a:t>
            </a:r>
            <a:r>
              <a:rPr lang="en-US" sz="1400" dirty="0">
                <a:solidFill>
                  <a:srgbClr val="10201D"/>
                </a:solidFill>
                <a:latin typeface="IBM Plex Sans" pitchFamily="34" charset="0"/>
                <a:ea typeface="IBM Plex Sans" pitchFamily="34" charset="-122"/>
                <a:cs typeface="IBM Plex Sans" pitchFamily="34" charset="0"/>
              </a:rPr>
              <a:t> · </a:t>
            </a:r>
            <a:r>
              <a:rPr lang="en-US" sz="1400" b="1" dirty="0">
                <a:solidFill>
                  <a:srgbClr val="10201D"/>
                </a:solidFill>
                <a:latin typeface="IBM Plex Sans" pitchFamily="34" charset="0"/>
                <a:ea typeface="IBM Plex Sans" pitchFamily="34" charset="-122"/>
                <a:cs typeface="IBM Plex Sans" pitchFamily="34" charset="0"/>
              </a:rPr>
              <a:t>Department of CSE</a:t>
            </a:r>
            <a:endParaRPr lang="en-US" sz="1400" b="1" dirty="0"/>
          </a:p>
        </p:txBody>
      </p:sp>
      <p:sp>
        <p:nvSpPr>
          <p:cNvPr id="8" name="Text 6"/>
          <p:cNvSpPr/>
          <p:nvPr/>
        </p:nvSpPr>
        <p:spPr>
          <a:xfrm>
            <a:off x="787380" y="4642771"/>
            <a:ext cx="6476838" cy="297855"/>
          </a:xfrm>
          <a:prstGeom prst="rect">
            <a:avLst/>
          </a:prstGeom>
          <a:noFill/>
          <a:ln/>
        </p:spPr>
        <p:txBody>
          <a:bodyPr wrap="none" lIns="0" tIns="0" rIns="0" bIns="0" rtlCol="0" anchor="t"/>
          <a:lstStyle/>
          <a:p>
            <a:pPr marL="0" indent="0" algn="l">
              <a:lnSpc>
                <a:spcPct val="115000"/>
              </a:lnSpc>
              <a:buNone/>
            </a:pPr>
            <a:r>
              <a:rPr lang="en-US" sz="1600" b="1" dirty="0">
                <a:solidFill>
                  <a:srgbClr val="10201D"/>
                </a:solidFill>
                <a:latin typeface="IBM Plex Sans SemiBold" panose="020B0703050203000203" pitchFamily="34" charset="0"/>
                <a:ea typeface="IBM Plex Sans" pitchFamily="34" charset="-122"/>
                <a:cs typeface="IBM Plex Sans" pitchFamily="34" charset="0"/>
              </a:rPr>
              <a:t>Project Team</a:t>
            </a:r>
            <a:r>
              <a:rPr lang="en-US" sz="1600" dirty="0">
                <a:solidFill>
                  <a:srgbClr val="10201D"/>
                </a:solidFill>
                <a:latin typeface="IBM Plex Sans SemiBold" panose="020B0703050203000203" pitchFamily="34" charset="0"/>
                <a:ea typeface="IBM Plex Sans" pitchFamily="34" charset="-122"/>
                <a:cs typeface="IBM Plex Sans" pitchFamily="34" charset="0"/>
              </a:rPr>
              <a:t>: </a:t>
            </a:r>
            <a:endParaRPr lang="en-US" sz="1600" dirty="0">
              <a:latin typeface="IBM Plex Sans SemiBold" panose="020B0703050203000203" pitchFamily="34" charset="0"/>
            </a:endParaRPr>
          </a:p>
        </p:txBody>
      </p:sp>
      <p:sp>
        <p:nvSpPr>
          <p:cNvPr id="9" name="Text 7"/>
          <p:cNvSpPr/>
          <p:nvPr/>
        </p:nvSpPr>
        <p:spPr>
          <a:xfrm>
            <a:off x="1437545" y="5083373"/>
            <a:ext cx="5623479" cy="1139627"/>
          </a:xfrm>
          <a:prstGeom prst="rect">
            <a:avLst/>
          </a:prstGeom>
          <a:noFill/>
          <a:ln/>
        </p:spPr>
        <p:txBody>
          <a:bodyPr wrap="square" lIns="0" tIns="0" rIns="0" bIns="0" rtlCol="0" anchor="t"/>
          <a:lstStyle/>
          <a:p>
            <a:pPr marL="0" indent="0" algn="l">
              <a:lnSpc>
                <a:spcPct val="115000"/>
              </a:lnSpc>
              <a:spcAft>
                <a:spcPts val="1150"/>
              </a:spcAft>
              <a:buNone/>
            </a:pPr>
            <a:r>
              <a:rPr lang="en-US" sz="1600" dirty="0">
                <a:solidFill>
                  <a:srgbClr val="10201D"/>
                </a:solidFill>
                <a:latin typeface="IBM Plex Sans" pitchFamily="34" charset="0"/>
                <a:ea typeface="IBM Plex Sans" pitchFamily="34" charset="-122"/>
                <a:cs typeface="IBM Plex Sans" pitchFamily="34" charset="0"/>
              </a:rPr>
              <a:t>· Bharath Krishna K K (4VV23CS033)</a:t>
            </a:r>
            <a:endParaRPr lang="en-US" sz="1600" dirty="0"/>
          </a:p>
          <a:p>
            <a:pPr marL="0" indent="0" algn="l">
              <a:lnSpc>
                <a:spcPct val="115000"/>
              </a:lnSpc>
              <a:spcAft>
                <a:spcPts val="1150"/>
              </a:spcAft>
              <a:buNone/>
            </a:pPr>
            <a:r>
              <a:rPr lang="en-US" sz="1600" dirty="0">
                <a:solidFill>
                  <a:srgbClr val="10201D"/>
                </a:solidFill>
                <a:latin typeface="IBM Plex Sans" pitchFamily="34" charset="0"/>
                <a:ea typeface="IBM Plex Sans" pitchFamily="34" charset="-122"/>
                <a:cs typeface="IBM Plex Sans" pitchFamily="34" charset="0"/>
              </a:rPr>
              <a:t>· Charan P (4VV23CS042) </a:t>
            </a:r>
            <a:endParaRPr lang="en-US" sz="1600" dirty="0"/>
          </a:p>
          <a:p>
            <a:pPr marL="0" indent="0" algn="l">
              <a:lnSpc>
                <a:spcPct val="115000"/>
              </a:lnSpc>
              <a:buNone/>
            </a:pPr>
            <a:r>
              <a:rPr lang="en-US" sz="1600" dirty="0">
                <a:solidFill>
                  <a:srgbClr val="10201D"/>
                </a:solidFill>
                <a:latin typeface="IBM Plex Sans" pitchFamily="34" charset="0"/>
                <a:ea typeface="IBM Plex Sans" pitchFamily="34" charset="-122"/>
                <a:cs typeface="IBM Plex Sans" pitchFamily="34" charset="0"/>
              </a:rPr>
              <a:t>· Abu Safwan (4VV23CS006)</a:t>
            </a:r>
            <a:endParaRPr lang="en-US" sz="1600" dirty="0"/>
          </a:p>
        </p:txBody>
      </p:sp>
      <p:pic>
        <p:nvPicPr>
          <p:cNvPr id="10" name="Image 0" descr="preencoded.png"/>
          <p:cNvPicPr>
            <a:picLocks noChangeAspect="1"/>
          </p:cNvPicPr>
          <p:nvPr/>
        </p:nvPicPr>
        <p:blipFill>
          <a:blip r:embed="rId3"/>
          <a:stretch>
            <a:fillRect/>
          </a:stretch>
        </p:blipFill>
        <p:spPr>
          <a:xfrm>
            <a:off x="7721407" y="0"/>
            <a:ext cx="447028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390080"/>
            <a:ext cx="7863683"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PROBLEM DEFINITION &amp; OBJECTIVES</a:t>
            </a:r>
            <a:endParaRPr lang="en-US" sz="1100" dirty="0"/>
          </a:p>
        </p:txBody>
      </p:sp>
      <p:sp>
        <p:nvSpPr>
          <p:cNvPr id="3" name="Text 1"/>
          <p:cNvSpPr/>
          <p:nvPr/>
        </p:nvSpPr>
        <p:spPr>
          <a:xfrm>
            <a:off x="457189" y="688947"/>
            <a:ext cx="7508092" cy="915392"/>
          </a:xfrm>
          <a:prstGeom prst="rect">
            <a:avLst/>
          </a:prstGeom>
          <a:noFill/>
          <a:ln/>
        </p:spPr>
        <p:txBody>
          <a:bodyPr wrap="square" lIns="0" tIns="0" rIns="0" bIns="0" rtlCol="0" anchor="t">
            <a:normAutofit lnSpcReduction="10000"/>
          </a:bodyPr>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Attendance data is scattered, and manual analysis does not scale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189" y="1825129"/>
          <a:ext cx="7508092" cy="3521781"/>
        </p:xfrm>
        <a:graphic>
          <a:graphicData uri="http://schemas.openxmlformats.org/drawingml/2006/table">
            <a:tbl>
              <a:tblPr/>
              <a:tblGrid>
                <a:gridCol w="1876973">
                  <a:extLst>
                    <a:ext uri="{9D8B030D-6E8A-4147-A177-3AD203B41FA5}">
                      <a16:colId xmlns:a16="http://schemas.microsoft.com/office/drawing/2014/main" val="20000"/>
                    </a:ext>
                  </a:extLst>
                </a:gridCol>
                <a:gridCol w="5631119">
                  <a:extLst>
                    <a:ext uri="{9D8B030D-6E8A-4147-A177-3AD203B41FA5}">
                      <a16:colId xmlns:a16="http://schemas.microsoft.com/office/drawing/2014/main" val="20001"/>
                    </a:ext>
                  </a:extLst>
                </a:gridCol>
              </a:tblGrid>
              <a:tr h="1376725">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Scattered records</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F2F4ED"/>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Attendance data spans fragmented sheets, paper registers, departmental silos, Excel files and log exports; cross-semester and cross-subject analysis is repetitive, manual and error-prone.</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F2F4ED"/>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extLst>
                  <a:ext uri="{0D108BD9-81ED-4DB2-BD59-A6C34878D82A}">
                    <a16:rowId xmlns:a16="http://schemas.microsoft.com/office/drawing/2014/main" val="10000"/>
                  </a:ext>
                </a:extLst>
              </a:tr>
              <a:tr h="1078878">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Insight gaps</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Faculty need subject-wise, student-wise, section-wise and time-based insights, including temporal trend tracking.</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extLst>
                  <a:ext uri="{0D108BD9-81ED-4DB2-BD59-A6C34878D82A}">
                    <a16:rowId xmlns:a16="http://schemas.microsoft.com/office/drawing/2014/main" val="10001"/>
                  </a:ext>
                </a:extLst>
              </a:tr>
              <a:tr h="1066178">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Intervention</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2F4ED"/>
                      </a:solidFill>
                      <a:prstDash val="solid"/>
                      <a:round/>
                      <a:headEnd type="none" w="med" len="med"/>
                      <a:tailEnd type="none" w="med" len="med"/>
                    </a:lnB>
                  </a:tcPr>
                </a:tc>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Flagging students below the mandatory 75% attendance threshold requires automated batch processing.</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2F4E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457189" y="5581884"/>
            <a:ext cx="7508092" cy="444897"/>
          </a:xfrm>
          <a:prstGeom prst="rect">
            <a:avLst/>
          </a:prstGeom>
          <a:noFill/>
          <a:ln/>
        </p:spPr>
        <p:txBody>
          <a:bodyPr wrap="square" lIns="0" tIns="63498" rIns="0" bIns="0" rtlCol="0" anchor="t">
            <a:normAutofit/>
          </a:bodyPr>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0"/>
              </a:rPr>
              <a:t>Objectives: store data in HDFS; analyse with Hive/HiveQL; calculate attendance percentages; identify low-attendance cases; discover trends; demonstrate the Hadoop workflow.</a:t>
            </a:r>
            <a:endParaRPr lang="en-US" sz="1100" dirty="0"/>
          </a:p>
        </p:txBody>
      </p:sp>
      <p:pic>
        <p:nvPicPr>
          <p:cNvPr id="6" name="Image 0" descr="preencoded.png"/>
          <p:cNvPicPr>
            <a:picLocks noChangeAspect="1"/>
          </p:cNvPicPr>
          <p:nvPr/>
        </p:nvPicPr>
        <p:blipFill>
          <a:blip r:embed="rId3"/>
          <a:stretch>
            <a:fillRect/>
          </a:stretch>
        </p:blipFill>
        <p:spPr>
          <a:xfrm>
            <a:off x="8625565" y="0"/>
            <a:ext cx="356613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7987" y="440880"/>
            <a:ext cx="11683708"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END-TO-END PIPELINE &amp; TECH STACK</a:t>
            </a:r>
            <a:endParaRPr lang="en-US" sz="1100" dirty="0"/>
          </a:p>
        </p:txBody>
      </p:sp>
      <p:sp>
        <p:nvSpPr>
          <p:cNvPr id="3" name="Text 1"/>
          <p:cNvSpPr/>
          <p:nvPr/>
        </p:nvSpPr>
        <p:spPr>
          <a:xfrm>
            <a:off x="507987" y="739747"/>
            <a:ext cx="11175720" cy="915392"/>
          </a:xfrm>
          <a:prstGeom prst="rect">
            <a:avLst/>
          </a:prstGeom>
          <a:noFill/>
          <a:ln/>
        </p:spPr>
        <p:txBody>
          <a:bodyPr wrap="square" lIns="0" tIns="0" rIns="0" bIns="0" rtlCol="0" anchor="t">
            <a:normAutofit lnSpcReduction="10000"/>
          </a:bodyPr>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Proposed solution: a CSV-to-insight pipeline on Hadoop</a:t>
            </a:r>
            <a:endParaRPr lang="en-US" sz="3400" dirty="0"/>
          </a:p>
        </p:txBody>
      </p:sp>
      <p:sp>
        <p:nvSpPr>
          <p:cNvPr id="4" name="Text 2"/>
          <p:cNvSpPr/>
          <p:nvPr/>
        </p:nvSpPr>
        <p:spPr>
          <a:xfrm>
            <a:off x="507987" y="1882406"/>
            <a:ext cx="11683708" cy="297855"/>
          </a:xfrm>
          <a:prstGeom prst="rect">
            <a:avLst/>
          </a:prstGeom>
          <a:noFill/>
          <a:ln/>
        </p:spPr>
        <p:txBody>
          <a:bodyPr wrap="none" lIns="0" tIns="0" rIns="0" bIns="0" rtlCol="0" anchor="t"/>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0"/>
              </a:rPr>
              <a:t>Attendance data flows from CSV validation through HiveQL aggregation to interpreted results.</a:t>
            </a:r>
            <a:endParaRPr lang="en-US" sz="1700" dirty="0"/>
          </a:p>
        </p:txBody>
      </p:sp>
      <p:sp>
        <p:nvSpPr>
          <p:cNvPr id="5" name="Shape 3"/>
          <p:cNvSpPr/>
          <p:nvPr/>
        </p:nvSpPr>
        <p:spPr>
          <a:xfrm>
            <a:off x="507987" y="2678807"/>
            <a:ext cx="1396866" cy="614164"/>
          </a:xfrm>
          <a:prstGeom prst="roundRect">
            <a:avLst>
              <a:gd name="adj" fmla="val 4999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6" name="Text 4"/>
          <p:cNvSpPr/>
          <p:nvPr/>
        </p:nvSpPr>
        <p:spPr>
          <a:xfrm>
            <a:off x="622284" y="2797298"/>
            <a:ext cx="1168272" cy="385564"/>
          </a:xfrm>
          <a:prstGeom prst="rect">
            <a:avLst/>
          </a:prstGeom>
          <a:noFill/>
          <a:ln/>
        </p:spPr>
        <p:txBody>
          <a:bodyPr wrap="square" lIns="0" tIns="0" rIns="0" bIns="0" rtlCol="0" anchor="t">
            <a:normAutofit/>
          </a:bodyPr>
          <a:lstStyle/>
          <a:p>
            <a:pPr marL="0" indent="0" algn="ctr">
              <a:lnSpc>
                <a:spcPct val="115000"/>
              </a:lnSpc>
              <a:buNone/>
            </a:pPr>
            <a:r>
              <a:rPr lang="en-US" sz="1100" b="1" dirty="0">
                <a:solidFill>
                  <a:srgbClr val="10201D"/>
                </a:solidFill>
                <a:latin typeface="IBM Plex Sans Bold" pitchFamily="34" charset="0"/>
                <a:ea typeface="IBM Plex Sans Bold" pitchFamily="34" charset="-122"/>
                <a:cs typeface="IBM Plex Sans Bold" pitchFamily="34" charset="0"/>
              </a:rPr>
              <a:t>CSV attendance data</a:t>
            </a:r>
            <a:endParaRPr lang="en-US" sz="1100" dirty="0"/>
          </a:p>
        </p:txBody>
      </p:sp>
      <p:sp>
        <p:nvSpPr>
          <p:cNvPr id="7" name="Shape 5"/>
          <p:cNvSpPr/>
          <p:nvPr/>
        </p:nvSpPr>
        <p:spPr>
          <a:xfrm>
            <a:off x="1904853" y="2966839"/>
            <a:ext cx="232761" cy="38100"/>
          </a:xfrm>
          <a:prstGeom prst="roundRect">
            <a:avLst>
              <a:gd name="adj" fmla="val 49999"/>
            </a:avLst>
          </a:prstGeom>
          <a:solidFill>
            <a:srgbClr val="0A7C78"/>
          </a:solidFill>
          <a:ln/>
        </p:spPr>
      </p:sp>
      <p:sp>
        <p:nvSpPr>
          <p:cNvPr id="8" name="Shape 6"/>
          <p:cNvSpPr/>
          <p:nvPr/>
        </p:nvSpPr>
        <p:spPr>
          <a:xfrm>
            <a:off x="2137714" y="2678807"/>
            <a:ext cx="1396965" cy="614164"/>
          </a:xfrm>
          <a:prstGeom prst="roundRect">
            <a:avLst>
              <a:gd name="adj" fmla="val 4999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9" name="Text 7"/>
          <p:cNvSpPr/>
          <p:nvPr/>
        </p:nvSpPr>
        <p:spPr>
          <a:xfrm>
            <a:off x="2252011" y="2797298"/>
            <a:ext cx="1168371" cy="385564"/>
          </a:xfrm>
          <a:prstGeom prst="rect">
            <a:avLst/>
          </a:prstGeom>
          <a:noFill/>
          <a:ln/>
        </p:spPr>
        <p:txBody>
          <a:bodyPr wrap="square" lIns="0" tIns="0" rIns="0" bIns="0" rtlCol="0" anchor="t">
            <a:normAutofit/>
          </a:bodyPr>
          <a:lstStyle/>
          <a:p>
            <a:pPr marL="0" indent="0" algn="ctr">
              <a:lnSpc>
                <a:spcPct val="115000"/>
              </a:lnSpc>
              <a:buNone/>
            </a:pPr>
            <a:r>
              <a:rPr lang="en-US" sz="1100" b="1" dirty="0">
                <a:solidFill>
                  <a:srgbClr val="10201D"/>
                </a:solidFill>
                <a:latin typeface="IBM Plex Sans Bold" pitchFamily="34" charset="0"/>
                <a:ea typeface="IBM Plex Sans Bold" pitchFamily="34" charset="-122"/>
                <a:cs typeface="IBM Plex Sans Bold" pitchFamily="34" charset="0"/>
              </a:rPr>
              <a:t>Cleaning / validation</a:t>
            </a:r>
            <a:endParaRPr lang="en-US" sz="1100" dirty="0"/>
          </a:p>
        </p:txBody>
      </p:sp>
      <p:sp>
        <p:nvSpPr>
          <p:cNvPr id="10" name="Shape 8"/>
          <p:cNvSpPr/>
          <p:nvPr/>
        </p:nvSpPr>
        <p:spPr>
          <a:xfrm>
            <a:off x="3534679" y="2966839"/>
            <a:ext cx="232761" cy="38100"/>
          </a:xfrm>
          <a:prstGeom prst="roundRect">
            <a:avLst>
              <a:gd name="adj" fmla="val 49999"/>
            </a:avLst>
          </a:prstGeom>
          <a:solidFill>
            <a:srgbClr val="0A7C78"/>
          </a:solidFill>
          <a:ln/>
        </p:spPr>
      </p:sp>
      <p:sp>
        <p:nvSpPr>
          <p:cNvPr id="11" name="Shape 9"/>
          <p:cNvSpPr/>
          <p:nvPr/>
        </p:nvSpPr>
        <p:spPr>
          <a:xfrm>
            <a:off x="3767539" y="2678807"/>
            <a:ext cx="1396965" cy="614164"/>
          </a:xfrm>
          <a:prstGeom prst="roundRect">
            <a:avLst>
              <a:gd name="adj" fmla="val 4999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12" name="Text 10"/>
          <p:cNvSpPr/>
          <p:nvPr/>
        </p:nvSpPr>
        <p:spPr>
          <a:xfrm>
            <a:off x="3767539" y="2893639"/>
            <a:ext cx="1396965" cy="192782"/>
          </a:xfrm>
          <a:prstGeom prst="rect">
            <a:avLst/>
          </a:prstGeom>
          <a:noFill/>
          <a:ln/>
        </p:spPr>
        <p:txBody>
          <a:bodyPr wrap="none" lIns="0" tIns="0" rIns="0" bIns="0" rtlCol="0" anchor="t"/>
          <a:lstStyle/>
          <a:p>
            <a:pPr marL="0" indent="0" algn="ctr">
              <a:lnSpc>
                <a:spcPct val="115000"/>
              </a:lnSpc>
              <a:buNone/>
            </a:pPr>
            <a:r>
              <a:rPr lang="en-US" sz="1100" b="1" dirty="0">
                <a:solidFill>
                  <a:srgbClr val="10201D"/>
                </a:solidFill>
                <a:latin typeface="IBM Plex Sans Bold" pitchFamily="34" charset="0"/>
                <a:ea typeface="IBM Plex Sans Bold" pitchFamily="34" charset="-122"/>
                <a:cs typeface="IBM Plex Sans Bold" pitchFamily="34" charset="0"/>
              </a:rPr>
              <a:t>HDFS</a:t>
            </a:r>
            <a:endParaRPr lang="en-US" sz="1100" dirty="0"/>
          </a:p>
        </p:txBody>
      </p:sp>
      <p:sp>
        <p:nvSpPr>
          <p:cNvPr id="13" name="Shape 11"/>
          <p:cNvSpPr/>
          <p:nvPr/>
        </p:nvSpPr>
        <p:spPr>
          <a:xfrm>
            <a:off x="5164504" y="2966839"/>
            <a:ext cx="232761" cy="38100"/>
          </a:xfrm>
          <a:prstGeom prst="roundRect">
            <a:avLst>
              <a:gd name="adj" fmla="val 49999"/>
            </a:avLst>
          </a:prstGeom>
          <a:solidFill>
            <a:srgbClr val="0A7C78"/>
          </a:solidFill>
          <a:ln/>
        </p:spPr>
      </p:sp>
      <p:sp>
        <p:nvSpPr>
          <p:cNvPr id="14" name="Shape 12"/>
          <p:cNvSpPr/>
          <p:nvPr/>
        </p:nvSpPr>
        <p:spPr>
          <a:xfrm>
            <a:off x="5397266" y="2678807"/>
            <a:ext cx="1396965" cy="614164"/>
          </a:xfrm>
          <a:prstGeom prst="roundRect">
            <a:avLst>
              <a:gd name="adj" fmla="val 4999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15" name="Text 13"/>
          <p:cNvSpPr/>
          <p:nvPr/>
        </p:nvSpPr>
        <p:spPr>
          <a:xfrm>
            <a:off x="5511563" y="2797298"/>
            <a:ext cx="1168371" cy="385564"/>
          </a:xfrm>
          <a:prstGeom prst="rect">
            <a:avLst/>
          </a:prstGeom>
          <a:noFill/>
          <a:ln/>
        </p:spPr>
        <p:txBody>
          <a:bodyPr wrap="square" lIns="0" tIns="0" rIns="0" bIns="0" rtlCol="0" anchor="t">
            <a:normAutofit/>
          </a:bodyPr>
          <a:lstStyle/>
          <a:p>
            <a:pPr marL="0" indent="0" algn="ctr">
              <a:lnSpc>
                <a:spcPct val="115000"/>
              </a:lnSpc>
              <a:buNone/>
            </a:pPr>
            <a:r>
              <a:rPr lang="en-US" sz="1100" b="1" dirty="0">
                <a:solidFill>
                  <a:srgbClr val="10201D"/>
                </a:solidFill>
                <a:latin typeface="IBM Plex Sans Bold" pitchFamily="34" charset="0"/>
                <a:ea typeface="IBM Plex Sans Bold" pitchFamily="34" charset="-122"/>
                <a:cs typeface="IBM Plex Sans Bold" pitchFamily="34" charset="0"/>
              </a:rPr>
              <a:t>Hive external table</a:t>
            </a:r>
            <a:endParaRPr lang="en-US" sz="1100" dirty="0"/>
          </a:p>
        </p:txBody>
      </p:sp>
      <p:sp>
        <p:nvSpPr>
          <p:cNvPr id="16" name="Shape 14"/>
          <p:cNvSpPr/>
          <p:nvPr/>
        </p:nvSpPr>
        <p:spPr>
          <a:xfrm>
            <a:off x="6794231" y="2966839"/>
            <a:ext cx="232761" cy="38100"/>
          </a:xfrm>
          <a:prstGeom prst="roundRect">
            <a:avLst>
              <a:gd name="adj" fmla="val 49999"/>
            </a:avLst>
          </a:prstGeom>
          <a:solidFill>
            <a:srgbClr val="0A7C78"/>
          </a:solidFill>
          <a:ln/>
        </p:spPr>
      </p:sp>
      <p:sp>
        <p:nvSpPr>
          <p:cNvPr id="17" name="Shape 15"/>
          <p:cNvSpPr/>
          <p:nvPr/>
        </p:nvSpPr>
        <p:spPr>
          <a:xfrm>
            <a:off x="7027091" y="2678807"/>
            <a:ext cx="1396965" cy="614164"/>
          </a:xfrm>
          <a:prstGeom prst="roundRect">
            <a:avLst>
              <a:gd name="adj" fmla="val 49999"/>
            </a:avLst>
          </a:prstGeom>
          <a:solidFill>
            <a:srgbClr val="0A7C78"/>
          </a:solidFill>
          <a:ln/>
        </p:spPr>
      </p:sp>
      <p:sp>
        <p:nvSpPr>
          <p:cNvPr id="18" name="Text 16"/>
          <p:cNvSpPr/>
          <p:nvPr/>
        </p:nvSpPr>
        <p:spPr>
          <a:xfrm>
            <a:off x="7128689" y="2797298"/>
            <a:ext cx="1193770" cy="385564"/>
          </a:xfrm>
          <a:prstGeom prst="rect">
            <a:avLst/>
          </a:prstGeom>
          <a:noFill/>
          <a:ln/>
        </p:spPr>
        <p:txBody>
          <a:bodyPr wrap="square" lIns="0" tIns="0" rIns="0" bIns="0" rtlCol="0" anchor="t">
            <a:normAutofit/>
          </a:bodyPr>
          <a:lstStyle/>
          <a:p>
            <a:pPr marL="0" indent="0" algn="ctr">
              <a:lnSpc>
                <a:spcPct val="115000"/>
              </a:lnSpc>
              <a:buNone/>
            </a:pPr>
            <a:r>
              <a:rPr lang="en-US" sz="1100" b="1" dirty="0">
                <a:solidFill>
                  <a:srgbClr val="FFFFFF"/>
                </a:solidFill>
                <a:latin typeface="IBM Plex Sans Bold" pitchFamily="34" charset="0"/>
                <a:ea typeface="IBM Plex Sans Bold" pitchFamily="34" charset="-122"/>
                <a:cs typeface="IBM Plex Sans Bold" pitchFamily="34" charset="0"/>
              </a:rPr>
              <a:t>HiveQL aggregation</a:t>
            </a:r>
            <a:endParaRPr lang="en-US" sz="1100" dirty="0"/>
          </a:p>
        </p:txBody>
      </p:sp>
      <p:sp>
        <p:nvSpPr>
          <p:cNvPr id="19" name="Shape 17"/>
          <p:cNvSpPr/>
          <p:nvPr/>
        </p:nvSpPr>
        <p:spPr>
          <a:xfrm>
            <a:off x="8424056" y="2966839"/>
            <a:ext cx="232761" cy="38100"/>
          </a:xfrm>
          <a:prstGeom prst="roundRect">
            <a:avLst>
              <a:gd name="adj" fmla="val 49999"/>
            </a:avLst>
          </a:prstGeom>
          <a:solidFill>
            <a:srgbClr val="0A7C78"/>
          </a:solidFill>
          <a:ln/>
        </p:spPr>
      </p:sp>
      <p:sp>
        <p:nvSpPr>
          <p:cNvPr id="20" name="Shape 18"/>
          <p:cNvSpPr/>
          <p:nvPr/>
        </p:nvSpPr>
        <p:spPr>
          <a:xfrm>
            <a:off x="8656917" y="2678807"/>
            <a:ext cx="1396965" cy="614164"/>
          </a:xfrm>
          <a:prstGeom prst="roundRect">
            <a:avLst>
              <a:gd name="adj" fmla="val 4999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21" name="Text 19"/>
          <p:cNvSpPr/>
          <p:nvPr/>
        </p:nvSpPr>
        <p:spPr>
          <a:xfrm>
            <a:off x="8656917" y="2893639"/>
            <a:ext cx="1396965" cy="192782"/>
          </a:xfrm>
          <a:prstGeom prst="rect">
            <a:avLst/>
          </a:prstGeom>
          <a:noFill/>
          <a:ln/>
        </p:spPr>
        <p:txBody>
          <a:bodyPr wrap="none" lIns="0" tIns="0" rIns="0" bIns="0" rtlCol="0" anchor="t"/>
          <a:lstStyle/>
          <a:p>
            <a:pPr marL="0" indent="0" algn="ctr">
              <a:lnSpc>
                <a:spcPct val="115000"/>
              </a:lnSpc>
              <a:buNone/>
            </a:pPr>
            <a:r>
              <a:rPr lang="en-US" sz="1100" b="1" dirty="0">
                <a:solidFill>
                  <a:srgbClr val="10201D"/>
                </a:solidFill>
                <a:latin typeface="IBM Plex Sans Bold" pitchFamily="34" charset="0"/>
                <a:ea typeface="IBM Plex Sans Bold" pitchFamily="34" charset="-122"/>
                <a:cs typeface="IBM Plex Sans Bold" pitchFamily="34" charset="0"/>
              </a:rPr>
              <a:t>Results / charts</a:t>
            </a:r>
            <a:endParaRPr lang="en-US" sz="1100" dirty="0"/>
          </a:p>
        </p:txBody>
      </p:sp>
      <p:sp>
        <p:nvSpPr>
          <p:cNvPr id="22" name="Shape 20"/>
          <p:cNvSpPr/>
          <p:nvPr/>
        </p:nvSpPr>
        <p:spPr>
          <a:xfrm>
            <a:off x="10053882" y="2966839"/>
            <a:ext cx="232761" cy="38100"/>
          </a:xfrm>
          <a:prstGeom prst="roundRect">
            <a:avLst>
              <a:gd name="adj" fmla="val 49999"/>
            </a:avLst>
          </a:prstGeom>
          <a:solidFill>
            <a:srgbClr val="0A7C78"/>
          </a:solidFill>
          <a:ln/>
        </p:spPr>
      </p:sp>
      <p:sp>
        <p:nvSpPr>
          <p:cNvPr id="23" name="Shape 21"/>
          <p:cNvSpPr/>
          <p:nvPr/>
        </p:nvSpPr>
        <p:spPr>
          <a:xfrm>
            <a:off x="10286643" y="2678807"/>
            <a:ext cx="1396965" cy="614164"/>
          </a:xfrm>
          <a:prstGeom prst="roundRect">
            <a:avLst>
              <a:gd name="adj" fmla="val 49999"/>
            </a:avLst>
          </a:prstGeom>
          <a:solidFill>
            <a:srgbClr val="083C35"/>
          </a:solidFill>
          <a:ln/>
        </p:spPr>
      </p:sp>
      <p:sp>
        <p:nvSpPr>
          <p:cNvPr id="24" name="Text 22"/>
          <p:cNvSpPr/>
          <p:nvPr/>
        </p:nvSpPr>
        <p:spPr>
          <a:xfrm>
            <a:off x="10286643" y="2893639"/>
            <a:ext cx="1396965" cy="192782"/>
          </a:xfrm>
          <a:prstGeom prst="rect">
            <a:avLst/>
          </a:prstGeom>
          <a:noFill/>
          <a:ln/>
        </p:spPr>
        <p:txBody>
          <a:bodyPr wrap="none" lIns="0" tIns="0" rIns="0" bIns="0" rtlCol="0" anchor="t"/>
          <a:lstStyle/>
          <a:p>
            <a:pPr marL="0" indent="0" algn="ctr">
              <a:lnSpc>
                <a:spcPct val="115000"/>
              </a:lnSpc>
              <a:buNone/>
            </a:pPr>
            <a:r>
              <a:rPr lang="en-US" sz="1100" b="1" dirty="0">
                <a:solidFill>
                  <a:srgbClr val="FFFFFF"/>
                </a:solidFill>
                <a:latin typeface="IBM Plex Sans Bold" pitchFamily="34" charset="0"/>
                <a:ea typeface="IBM Plex Sans Bold" pitchFamily="34" charset="-122"/>
                <a:cs typeface="IBM Plex Sans Bold" pitchFamily="34" charset="0"/>
              </a:rPr>
              <a:t>Interpretation</a:t>
            </a:r>
            <a:endParaRPr lang="en-US" sz="1100" dirty="0"/>
          </a:p>
        </p:txBody>
      </p:sp>
      <p:sp>
        <p:nvSpPr>
          <p:cNvPr id="25" name="Shape 23"/>
          <p:cNvSpPr/>
          <p:nvPr/>
        </p:nvSpPr>
        <p:spPr>
          <a:xfrm>
            <a:off x="507987" y="3788271"/>
            <a:ext cx="3521979" cy="1602680"/>
          </a:xfrm>
          <a:prstGeom prst="roundRect">
            <a:avLst>
              <a:gd name="adj" fmla="val 13312"/>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26" name="Text 24"/>
          <p:cNvSpPr/>
          <p:nvPr/>
        </p:nvSpPr>
        <p:spPr>
          <a:xfrm>
            <a:off x="723882" y="3989058"/>
            <a:ext cx="3090190"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Storage &amp; Compute</a:t>
            </a:r>
            <a:endParaRPr lang="en-US" sz="1800" dirty="0"/>
          </a:p>
        </p:txBody>
      </p:sp>
      <p:sp>
        <p:nvSpPr>
          <p:cNvPr id="27" name="Text 25"/>
          <p:cNvSpPr/>
          <p:nvPr/>
        </p:nvSpPr>
        <p:spPr>
          <a:xfrm>
            <a:off x="723882" y="4469979"/>
            <a:ext cx="3090190"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Hadoop HDFS distributed filesystem paired with Apache Hive 3.x executing MapReduce/Tez jobs.</a:t>
            </a:r>
            <a:endParaRPr lang="en-US" sz="1400" dirty="0"/>
          </a:p>
        </p:txBody>
      </p:sp>
      <p:sp>
        <p:nvSpPr>
          <p:cNvPr id="28" name="Shape 26"/>
          <p:cNvSpPr/>
          <p:nvPr/>
        </p:nvSpPr>
        <p:spPr>
          <a:xfrm>
            <a:off x="4334759" y="3788271"/>
            <a:ext cx="3522078" cy="1602680"/>
          </a:xfrm>
          <a:prstGeom prst="roundRect">
            <a:avLst>
              <a:gd name="adj" fmla="val 13312"/>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29" name="Text 27"/>
          <p:cNvSpPr/>
          <p:nvPr/>
        </p:nvSpPr>
        <p:spPr>
          <a:xfrm>
            <a:off x="4550653" y="3989058"/>
            <a:ext cx="309028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Runtime &amp; OS</a:t>
            </a:r>
            <a:endParaRPr lang="en-US" sz="1800" dirty="0"/>
          </a:p>
        </p:txBody>
      </p:sp>
      <p:sp>
        <p:nvSpPr>
          <p:cNvPr id="30" name="Text 28"/>
          <p:cNvSpPr/>
          <p:nvPr/>
        </p:nvSpPr>
        <p:spPr>
          <a:xfrm>
            <a:off x="4550653" y="4469979"/>
            <a:ext cx="3090289"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Java Runtime Environment (OpenJDK 8/11) hosted on Linux Ubuntu / WSL2 single-node cluster.</a:t>
            </a:r>
            <a:endParaRPr lang="en-US" sz="1400" dirty="0"/>
          </a:p>
        </p:txBody>
      </p:sp>
      <p:sp>
        <p:nvSpPr>
          <p:cNvPr id="31" name="Shape 29"/>
          <p:cNvSpPr/>
          <p:nvPr/>
        </p:nvSpPr>
        <p:spPr>
          <a:xfrm>
            <a:off x="8161629" y="3788271"/>
            <a:ext cx="3522078" cy="1602680"/>
          </a:xfrm>
          <a:prstGeom prst="roundRect">
            <a:avLst>
              <a:gd name="adj" fmla="val 13312"/>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32" name="Text 30"/>
          <p:cNvSpPr/>
          <p:nvPr/>
        </p:nvSpPr>
        <p:spPr>
          <a:xfrm>
            <a:off x="8377524" y="3989058"/>
            <a:ext cx="309028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Tooling &amp; Scripts</a:t>
            </a:r>
            <a:endParaRPr lang="en-US" sz="1800" dirty="0"/>
          </a:p>
        </p:txBody>
      </p:sp>
      <p:sp>
        <p:nvSpPr>
          <p:cNvPr id="33" name="Text 31"/>
          <p:cNvSpPr/>
          <p:nvPr/>
        </p:nvSpPr>
        <p:spPr>
          <a:xfrm>
            <a:off x="8377524" y="4469979"/>
            <a:ext cx="3090289"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Hive CLI, Beeline, Python/Excel for synthetic generation, and VS Code terminal orchestration.</a:t>
            </a:r>
            <a:endParaRPr lang="en-US" sz="1400" dirty="0"/>
          </a:p>
        </p:txBody>
      </p:sp>
      <p:sp>
        <p:nvSpPr>
          <p:cNvPr id="34" name="Text 32"/>
          <p:cNvSpPr/>
          <p:nvPr/>
        </p:nvSpPr>
        <p:spPr>
          <a:xfrm>
            <a:off x="507987" y="6222738"/>
            <a:ext cx="11683708" cy="260548"/>
          </a:xfrm>
          <a:prstGeom prst="rect">
            <a:avLst/>
          </a:prstGeom>
          <a:noFill/>
          <a:ln/>
        </p:spPr>
        <p:txBody>
          <a:bodyPr wrap="none" lIns="0" tIns="63498"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0"/>
              </a:rPr>
              <a:t>Architecture note: A single-node academic pseudo-distributed setup is sufficient for curriculum batch scale.</a:t>
            </a:r>
            <a:endParaRPr lang="en-US" sz="1100" dirty="0"/>
          </a:p>
        </p:txBody>
      </p:sp>
      <p:pic>
        <p:nvPicPr>
          <p:cNvPr id="36" name="Picture 35">
            <a:extLst>
              <a:ext uri="{FF2B5EF4-FFF2-40B4-BE49-F238E27FC236}">
                <a16:creationId xmlns:a16="http://schemas.microsoft.com/office/drawing/2014/main" id="{CA549BBA-BB92-5EEC-0AF1-30DF3D6CEB22}"/>
              </a:ext>
            </a:extLst>
          </p:cNvPr>
          <p:cNvPicPr>
            <a:picLocks noChangeAspect="1"/>
          </p:cNvPicPr>
          <p:nvPr/>
        </p:nvPicPr>
        <p:blipFill>
          <a:blip r:embed="rId3"/>
          <a:stretch>
            <a:fillRect/>
          </a:stretch>
        </p:blipFill>
        <p:spPr>
          <a:xfrm>
            <a:off x="10843143" y="6417120"/>
            <a:ext cx="1348857" cy="4343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04792" y="440880"/>
            <a:ext cx="5333867"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SCHEMA &amp; VOLUME</a:t>
            </a:r>
            <a:endParaRPr lang="en-US" sz="1100" dirty="0"/>
          </a:p>
        </p:txBody>
      </p:sp>
      <p:sp>
        <p:nvSpPr>
          <p:cNvPr id="3" name="Text 1"/>
          <p:cNvSpPr/>
          <p:nvPr/>
        </p:nvSpPr>
        <p:spPr>
          <a:xfrm>
            <a:off x="304792" y="739747"/>
            <a:ext cx="5181470" cy="915392"/>
          </a:xfrm>
          <a:prstGeom prst="rect">
            <a:avLst/>
          </a:prstGeom>
          <a:noFill/>
          <a:ln/>
        </p:spPr>
        <p:txBody>
          <a:bodyPr wrap="square" lIns="0" tIns="0" rIns="0" bIns="0" rtlCol="0" anchor="t">
            <a:normAutofit lnSpcReduction="10000"/>
          </a:bodyPr>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Dataset and architecture</a:t>
            </a:r>
            <a:endParaRPr lang="en-US" sz="3400" dirty="0"/>
          </a:p>
        </p:txBody>
      </p:sp>
      <p:sp>
        <p:nvSpPr>
          <p:cNvPr id="4" name="Text 2"/>
          <p:cNvSpPr/>
          <p:nvPr/>
        </p:nvSpPr>
        <p:spPr>
          <a:xfrm>
            <a:off x="304792" y="1882406"/>
            <a:ext cx="5181470"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0"/>
              </a:rPr>
              <a:t>5,000 to 20,000 synthetic, anonymized student log entries without real PII.</a:t>
            </a:r>
            <a:endParaRPr lang="en-US" sz="1700" dirty="0"/>
          </a:p>
        </p:txBody>
      </p:sp>
      <p:sp>
        <p:nvSpPr>
          <p:cNvPr id="5" name="Shape 3"/>
          <p:cNvSpPr/>
          <p:nvPr/>
        </p:nvSpPr>
        <p:spPr>
          <a:xfrm>
            <a:off x="281774" y="2832542"/>
            <a:ext cx="5181470" cy="1048742"/>
          </a:xfrm>
          <a:prstGeom prst="roundRect">
            <a:avLst>
              <a:gd name="adj" fmla="val 8646"/>
            </a:avLst>
          </a:prstGeom>
          <a:solidFill>
            <a:srgbClr val="FFFFFF"/>
          </a:solidFill>
          <a:ln w="6350">
            <a:solidFill>
              <a:srgbClr val="CBD4CE"/>
            </a:solidFill>
            <a:prstDash val="solid"/>
          </a:ln>
        </p:spPr>
      </p:sp>
      <p:sp>
        <p:nvSpPr>
          <p:cNvPr id="6" name="Text 4"/>
          <p:cNvSpPr/>
          <p:nvPr/>
        </p:nvSpPr>
        <p:spPr>
          <a:xfrm>
            <a:off x="516718" y="3072826"/>
            <a:ext cx="4946526" cy="245269"/>
          </a:xfrm>
          <a:prstGeom prst="rect">
            <a:avLst/>
          </a:prstGeom>
          <a:noFill/>
          <a:ln/>
        </p:spPr>
        <p:txBody>
          <a:bodyPr wrap="none" lIns="0" tIns="0" rIns="0" bIns="0" rtlCol="0" anchor="t"/>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student_id, department, semester, section</a:t>
            </a:r>
            <a:endParaRPr lang="en-US" sz="1400" dirty="0"/>
          </a:p>
        </p:txBody>
      </p:sp>
      <p:sp>
        <p:nvSpPr>
          <p:cNvPr id="7" name="Text 5"/>
          <p:cNvSpPr/>
          <p:nvPr/>
        </p:nvSpPr>
        <p:spPr>
          <a:xfrm>
            <a:off x="516718" y="3468273"/>
            <a:ext cx="4946526" cy="184348"/>
          </a:xfrm>
          <a:prstGeom prst="rect">
            <a:avLst/>
          </a:prstGeom>
          <a:noFill/>
          <a:ln/>
        </p:spPr>
        <p:txBody>
          <a:bodyPr wrap="none" lIns="0" tIns="0" rIns="0" bIns="0" rtlCol="0" anchor="t"/>
          <a:lstStyle/>
          <a:p>
            <a:pPr marL="0" indent="0" algn="l">
              <a:lnSpc>
                <a:spcPct val="110000"/>
              </a:lnSpc>
              <a:buNone/>
            </a:pPr>
            <a:r>
              <a:rPr lang="en-US" sz="1100" dirty="0">
                <a:solidFill>
                  <a:srgbClr val="10201D"/>
                </a:solidFill>
                <a:latin typeface="IBM Plex Sans" pitchFamily="34" charset="0"/>
                <a:ea typeface="IBM Plex Sans" pitchFamily="34" charset="-122"/>
                <a:cs typeface="IBM Plex Sans" pitchFamily="34" charset="0"/>
              </a:rPr>
              <a:t>Academic cohort identifiers (e.g., 4VV23CS001, CSE, 5, A)</a:t>
            </a:r>
            <a:endParaRPr lang="en-US" sz="1100" dirty="0"/>
          </a:p>
        </p:txBody>
      </p:sp>
      <p:sp>
        <p:nvSpPr>
          <p:cNvPr id="8" name="Shape 6"/>
          <p:cNvSpPr/>
          <p:nvPr/>
        </p:nvSpPr>
        <p:spPr>
          <a:xfrm>
            <a:off x="281774" y="4033685"/>
            <a:ext cx="5181470" cy="1048742"/>
          </a:xfrm>
          <a:prstGeom prst="roundRect">
            <a:avLst>
              <a:gd name="adj" fmla="val 8646"/>
            </a:avLst>
          </a:prstGeom>
          <a:solidFill>
            <a:srgbClr val="FFFFFF"/>
          </a:solidFill>
          <a:ln w="6350">
            <a:solidFill>
              <a:srgbClr val="CBD4CE"/>
            </a:solidFill>
            <a:prstDash val="solid"/>
          </a:ln>
        </p:spPr>
      </p:sp>
      <p:sp>
        <p:nvSpPr>
          <p:cNvPr id="9" name="Text 7"/>
          <p:cNvSpPr/>
          <p:nvPr/>
        </p:nvSpPr>
        <p:spPr>
          <a:xfrm>
            <a:off x="516718" y="4273969"/>
            <a:ext cx="4946526" cy="245269"/>
          </a:xfrm>
          <a:prstGeom prst="rect">
            <a:avLst/>
          </a:prstGeom>
          <a:noFill/>
          <a:ln/>
        </p:spPr>
        <p:txBody>
          <a:bodyPr wrap="none" lIns="0" tIns="0" rIns="0" bIns="0" rtlCol="0" anchor="t"/>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subject_code, subject_name</a:t>
            </a:r>
            <a:endParaRPr lang="en-US" sz="1400" dirty="0"/>
          </a:p>
        </p:txBody>
      </p:sp>
      <p:sp>
        <p:nvSpPr>
          <p:cNvPr id="10" name="Text 8"/>
          <p:cNvSpPr/>
          <p:nvPr/>
        </p:nvSpPr>
        <p:spPr>
          <a:xfrm>
            <a:off x="516718" y="4669415"/>
            <a:ext cx="4946526" cy="184348"/>
          </a:xfrm>
          <a:prstGeom prst="rect">
            <a:avLst/>
          </a:prstGeom>
          <a:noFill/>
          <a:ln/>
        </p:spPr>
        <p:txBody>
          <a:bodyPr wrap="none" lIns="0" tIns="0" rIns="0" bIns="0" rtlCol="0" anchor="t"/>
          <a:lstStyle/>
          <a:p>
            <a:pPr marL="0" indent="0" algn="l">
              <a:lnSpc>
                <a:spcPct val="110000"/>
              </a:lnSpc>
              <a:buNone/>
            </a:pPr>
            <a:r>
              <a:rPr lang="en-US" sz="1100" dirty="0">
                <a:solidFill>
                  <a:srgbClr val="10201D"/>
                </a:solidFill>
                <a:latin typeface="IBM Plex Sans" pitchFamily="34" charset="0"/>
                <a:ea typeface="IBM Plex Sans" pitchFamily="34" charset="-122"/>
                <a:cs typeface="IBM Plex Sans" pitchFamily="34" charset="0"/>
              </a:rPr>
              <a:t>Curriculum catalog (e.g., 21CS51, Management &amp; BDA)</a:t>
            </a:r>
            <a:endParaRPr lang="en-US" sz="1100" dirty="0"/>
          </a:p>
        </p:txBody>
      </p:sp>
      <p:sp>
        <p:nvSpPr>
          <p:cNvPr id="11" name="Shape 9"/>
          <p:cNvSpPr/>
          <p:nvPr/>
        </p:nvSpPr>
        <p:spPr>
          <a:xfrm>
            <a:off x="281774" y="5234827"/>
            <a:ext cx="5181470" cy="1048742"/>
          </a:xfrm>
          <a:prstGeom prst="roundRect">
            <a:avLst>
              <a:gd name="adj" fmla="val 8646"/>
            </a:avLst>
          </a:prstGeom>
          <a:solidFill>
            <a:srgbClr val="FFFFFF"/>
          </a:solidFill>
          <a:ln w="6350">
            <a:solidFill>
              <a:srgbClr val="CBD4CE"/>
            </a:solidFill>
            <a:prstDash val="solid"/>
          </a:ln>
        </p:spPr>
      </p:sp>
      <p:sp>
        <p:nvSpPr>
          <p:cNvPr id="12" name="Text 10"/>
          <p:cNvSpPr/>
          <p:nvPr/>
        </p:nvSpPr>
        <p:spPr>
          <a:xfrm>
            <a:off x="516718" y="5475111"/>
            <a:ext cx="4946526" cy="245269"/>
          </a:xfrm>
          <a:prstGeom prst="rect">
            <a:avLst/>
          </a:prstGeom>
          <a:noFill/>
          <a:ln/>
        </p:spPr>
        <p:txBody>
          <a:bodyPr wrap="none" lIns="0" tIns="0" rIns="0" bIns="0" rtlCol="0" anchor="t"/>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attendance_date, period_number, status</a:t>
            </a:r>
            <a:endParaRPr lang="en-US" sz="1400" dirty="0"/>
          </a:p>
        </p:txBody>
      </p:sp>
      <p:sp>
        <p:nvSpPr>
          <p:cNvPr id="13" name="Text 11"/>
          <p:cNvSpPr/>
          <p:nvPr/>
        </p:nvSpPr>
        <p:spPr>
          <a:xfrm>
            <a:off x="516718" y="5870557"/>
            <a:ext cx="4946526" cy="184348"/>
          </a:xfrm>
          <a:prstGeom prst="rect">
            <a:avLst/>
          </a:prstGeom>
          <a:noFill/>
          <a:ln/>
        </p:spPr>
        <p:txBody>
          <a:bodyPr wrap="none" lIns="0" tIns="0" rIns="0" bIns="0" rtlCol="0" anchor="t"/>
          <a:lstStyle/>
          <a:p>
            <a:pPr marL="0" indent="0" algn="l">
              <a:lnSpc>
                <a:spcPct val="110000"/>
              </a:lnSpc>
              <a:buNone/>
            </a:pPr>
            <a:r>
              <a:rPr lang="en-US" sz="1100" dirty="0">
                <a:solidFill>
                  <a:srgbClr val="10201D"/>
                </a:solidFill>
                <a:latin typeface="IBM Plex Sans" pitchFamily="34" charset="0"/>
                <a:ea typeface="IBM Plex Sans" pitchFamily="34" charset="-122"/>
                <a:cs typeface="IBM Plex Sans" pitchFamily="34" charset="0"/>
              </a:rPr>
              <a:t>Temporal event stamp and binary status: PRESENT or ABSENT</a:t>
            </a:r>
            <a:endParaRPr lang="en-US" sz="1100" dirty="0"/>
          </a:p>
        </p:txBody>
      </p:sp>
      <p:sp>
        <p:nvSpPr>
          <p:cNvPr id="14" name="Shape 12"/>
          <p:cNvSpPr/>
          <p:nvPr/>
        </p:nvSpPr>
        <p:spPr>
          <a:xfrm>
            <a:off x="5943352" y="431800"/>
            <a:ext cx="5881325" cy="5851769"/>
          </a:xfrm>
          <a:prstGeom prst="roundRect">
            <a:avLst>
              <a:gd name="adj" fmla="val 4102"/>
            </a:avLst>
          </a:prstGeom>
          <a:solidFill>
            <a:srgbClr val="083C35"/>
          </a:solidFill>
          <a:ln/>
          <a:effectLst>
            <a:outerShdw blurRad="354330" dist="125730" dir="5400000" algn="bl" rotWithShape="0">
              <a:srgbClr val="083C35">
                <a:alpha val="20000"/>
              </a:srgbClr>
            </a:outerShdw>
          </a:effectLst>
        </p:spPr>
      </p:sp>
      <p:sp>
        <p:nvSpPr>
          <p:cNvPr id="15" name="Text 13"/>
          <p:cNvSpPr/>
          <p:nvPr/>
        </p:nvSpPr>
        <p:spPr>
          <a:xfrm>
            <a:off x="6171946" y="645287"/>
            <a:ext cx="5486362" cy="301724"/>
          </a:xfrm>
          <a:prstGeom prst="rect">
            <a:avLst/>
          </a:prstGeom>
          <a:noFill/>
          <a:ln/>
        </p:spPr>
        <p:txBody>
          <a:bodyPr wrap="none" lIns="0" tIns="0" rIns="0" bIns="0" rtlCol="0" anchor="t"/>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0"/>
              </a:rPr>
              <a:t>Hadoop Ingestion Architecture</a:t>
            </a:r>
            <a:endParaRPr lang="en-US" sz="1800" dirty="0"/>
          </a:p>
        </p:txBody>
      </p:sp>
      <p:sp>
        <p:nvSpPr>
          <p:cNvPr id="16" name="Text 14"/>
          <p:cNvSpPr/>
          <p:nvPr/>
        </p:nvSpPr>
        <p:spPr>
          <a:xfrm>
            <a:off x="6171946" y="1127161"/>
            <a:ext cx="5486362" cy="368697"/>
          </a:xfrm>
          <a:prstGeom prst="rect">
            <a:avLst/>
          </a:prstGeom>
          <a:noFill/>
          <a:ln/>
        </p:spPr>
        <p:txBody>
          <a:bodyPr wrap="square" lIns="0" tIns="0" rIns="0" bIns="0" rtlCol="0" anchor="t">
            <a:normAutofit/>
          </a:bodyPr>
          <a:lstStyle/>
          <a:p>
            <a:pPr marL="0" indent="0" algn="l">
              <a:lnSpc>
                <a:spcPct val="110000"/>
              </a:lnSpc>
              <a:buNone/>
            </a:pPr>
            <a:r>
              <a:rPr lang="en-US" sz="1100" dirty="0">
                <a:solidFill>
                  <a:srgbClr val="FFFFFF"/>
                </a:solidFill>
                <a:latin typeface="IBM Plex Sans" pitchFamily="34" charset="0"/>
                <a:ea typeface="IBM Plex Sans" pitchFamily="34" charset="-122"/>
                <a:cs typeface="IBM Plex Sans" pitchFamily="34" charset="0"/>
              </a:rPr>
              <a:t>attendance.csv → /bda/attendance in HDFS → Hive external table → HiveQL → aggregated results → charts/insights</a:t>
            </a:r>
            <a:endParaRPr lang="en-US" sz="1100" dirty="0"/>
          </a:p>
        </p:txBody>
      </p:sp>
      <p:sp>
        <p:nvSpPr>
          <p:cNvPr id="17" name="Text 15"/>
          <p:cNvSpPr/>
          <p:nvPr/>
        </p:nvSpPr>
        <p:spPr>
          <a:xfrm>
            <a:off x="6171946" y="1638796"/>
            <a:ext cx="5486362" cy="2164556"/>
          </a:xfrm>
          <a:prstGeom prst="rect">
            <a:avLst/>
          </a:prstGeom>
          <a:noFill/>
          <a:ln/>
        </p:spPr>
        <p:txBody>
          <a:bodyPr wrap="square" lIns="0" tIns="0" rIns="0" bIns="0" rtlCol="0" anchor="t"/>
          <a:lstStyle/>
          <a:p>
            <a:pPr marL="0" indent="0" algn="l">
              <a:lnSpc>
                <a:spcPct val="115000"/>
              </a:lnSpc>
              <a:spcAft>
                <a:spcPts val="1150"/>
              </a:spcAft>
              <a:buNone/>
            </a:pPr>
            <a:r>
              <a:rPr lang="en-US" sz="1400" dirty="0">
                <a:solidFill>
                  <a:srgbClr val="FFFFFF"/>
                </a:solidFill>
                <a:latin typeface="IBM Plex Sans" pitchFamily="34" charset="0"/>
                <a:ea typeface="IBM Plex Sans" pitchFamily="34" charset="-122"/>
                <a:cs typeface="IBM Plex Sans" pitchFamily="34" charset="0"/>
              </a:rPr>
              <a:t>Local file system holds raw attendance.csv.</a:t>
            </a:r>
            <a:endParaRPr lang="en-US" sz="1400" dirty="0"/>
          </a:p>
          <a:p>
            <a:pPr marL="0" indent="0" algn="l">
              <a:lnSpc>
                <a:spcPct val="115000"/>
              </a:lnSpc>
              <a:spcAft>
                <a:spcPts val="1150"/>
              </a:spcAft>
              <a:buNone/>
            </a:pPr>
            <a:r>
              <a:rPr lang="en-US" sz="1400" dirty="0">
                <a:solidFill>
                  <a:srgbClr val="FFFFFF"/>
                </a:solidFill>
                <a:latin typeface="IBM Plex Sans" pitchFamily="34" charset="0"/>
                <a:ea typeface="IBM Plex Sans" pitchFamily="34" charset="-122"/>
                <a:cs typeface="IBM Plex Sans" pitchFamily="34" charset="0"/>
              </a:rPr>
              <a:t>Data moved to HDFS block store: hdfs dfs -put attendance.csv /bda/attendance/.</a:t>
            </a:r>
            <a:endParaRPr lang="en-US" sz="1400" dirty="0"/>
          </a:p>
          <a:p>
            <a:pPr marL="0" indent="0" algn="l">
              <a:lnSpc>
                <a:spcPct val="115000"/>
              </a:lnSpc>
              <a:spcAft>
                <a:spcPts val="1150"/>
              </a:spcAft>
              <a:buNone/>
            </a:pPr>
            <a:r>
              <a:rPr lang="en-US" sz="1400" dirty="0">
                <a:solidFill>
                  <a:srgbClr val="FFFFFF"/>
                </a:solidFill>
                <a:latin typeface="IBM Plex Sans" pitchFamily="34" charset="0"/>
                <a:ea typeface="IBM Plex Sans" pitchFamily="34" charset="-122"/>
                <a:cs typeface="IBM Plex Sans" pitchFamily="34" charset="0"/>
              </a:rPr>
              <a:t>Hive metastore overlays schema-on-read metadata without modifying underlying CSV files.</a:t>
            </a:r>
            <a:endParaRPr lang="en-US" sz="1400" dirty="0"/>
          </a:p>
          <a:p>
            <a:pPr marL="0" indent="0" algn="l">
              <a:lnSpc>
                <a:spcPct val="115000"/>
              </a:lnSpc>
              <a:buNone/>
            </a:pPr>
            <a:r>
              <a:rPr lang="en-US" sz="1400" dirty="0">
                <a:solidFill>
                  <a:srgbClr val="FFFFFF"/>
                </a:solidFill>
                <a:latin typeface="IBM Plex Sans" pitchFamily="34" charset="0"/>
                <a:ea typeface="IBM Plex Sans" pitchFamily="34" charset="-122"/>
                <a:cs typeface="IBM Plex Sans" pitchFamily="34" charset="0"/>
              </a:rPr>
              <a:t>HiveQL queries execute distributed map-side and reduce-side aggregations.</a:t>
            </a:r>
            <a:endParaRPr lang="en-US" sz="1400" dirty="0"/>
          </a:p>
        </p:txBody>
      </p:sp>
      <p:sp>
        <p:nvSpPr>
          <p:cNvPr id="18" name="Shape 16"/>
          <p:cNvSpPr/>
          <p:nvPr/>
        </p:nvSpPr>
        <p:spPr>
          <a:xfrm>
            <a:off x="6171946" y="5676309"/>
            <a:ext cx="2622385" cy="343495"/>
          </a:xfrm>
          <a:prstGeom prst="roundRect">
            <a:avLst>
              <a:gd name="adj" fmla="val 21118"/>
            </a:avLst>
          </a:prstGeom>
          <a:solidFill>
            <a:srgbClr val="D2F9F4"/>
          </a:solidFill>
          <a:ln/>
        </p:spPr>
      </p:sp>
      <p:sp>
        <p:nvSpPr>
          <p:cNvPr id="19" name="Text 17"/>
          <p:cNvSpPr/>
          <p:nvPr/>
        </p:nvSpPr>
        <p:spPr>
          <a:xfrm>
            <a:off x="6301424" y="5754131"/>
            <a:ext cx="2973015" cy="214114"/>
          </a:xfrm>
          <a:prstGeom prst="rect">
            <a:avLst/>
          </a:prstGeom>
          <a:noFill/>
          <a:ln/>
        </p:spPr>
        <p:txBody>
          <a:bodyPr wrap="none" lIns="0" tIns="0" rIns="0" bIns="0" rtlCol="0" anchor="t"/>
          <a:lstStyle/>
          <a:p>
            <a:pPr marL="0" indent="0" algn="l">
              <a:lnSpc>
                <a:spcPct val="103000"/>
              </a:lnSpc>
              <a:buNone/>
            </a:pPr>
            <a:r>
              <a:rPr lang="en-US" sz="1350" kern="100" spc="14" dirty="0">
                <a:solidFill>
                  <a:srgbClr val="10201D"/>
                </a:solidFill>
                <a:latin typeface="IBM Plex Sans SemiBold" pitchFamily="34" charset="0"/>
                <a:ea typeface="IBM Plex Sans SemiBold" pitchFamily="34" charset="-122"/>
                <a:cs typeface="IBM Plex Sans SemiBold" pitchFamily="34" charset="0"/>
              </a:rPr>
              <a:t>Target Volume: 5k–20k Rows</a:t>
            </a:r>
            <a:endParaRPr lang="en-US" sz="1350" dirty="0"/>
          </a:p>
        </p:txBody>
      </p:sp>
      <p:pic>
        <p:nvPicPr>
          <p:cNvPr id="21" name="Picture 20">
            <a:extLst>
              <a:ext uri="{FF2B5EF4-FFF2-40B4-BE49-F238E27FC236}">
                <a16:creationId xmlns:a16="http://schemas.microsoft.com/office/drawing/2014/main" id="{6D411DA3-8BF0-0C54-39EA-9C04213F5B78}"/>
              </a:ext>
            </a:extLst>
          </p:cNvPr>
          <p:cNvPicPr>
            <a:picLocks noChangeAspect="1"/>
          </p:cNvPicPr>
          <p:nvPr/>
        </p:nvPicPr>
        <p:blipFill>
          <a:blip r:embed="rId3"/>
          <a:srcRect l="-9509" t="34997" r="1" b="1"/>
          <a:stretch>
            <a:fillRect/>
          </a:stretch>
        </p:blipFill>
        <p:spPr>
          <a:xfrm>
            <a:off x="10714892" y="6569138"/>
            <a:ext cx="1477108" cy="2823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IMPLEMENTATION WORKFLOW</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Methodology and implementation</a:t>
            </a:r>
            <a:endParaRPr lang="en-US" sz="3400" dirty="0"/>
          </a:p>
        </p:txBody>
      </p:sp>
      <p:sp>
        <p:nvSpPr>
          <p:cNvPr id="4" name="Text 2"/>
          <p:cNvSpPr/>
          <p:nvPr/>
        </p:nvSpPr>
        <p:spPr>
          <a:xfrm>
            <a:off x="457189" y="1443633"/>
            <a:ext cx="4389030" cy="495498"/>
          </a:xfrm>
          <a:prstGeom prst="rect">
            <a:avLst/>
          </a:prstGeom>
          <a:noFill/>
          <a:ln/>
        </p:spPr>
        <p:txBody>
          <a:bodyPr wrap="square" lIns="0" tIns="0" rIns="0" bIns="0" rtlCol="0" anchor="t"/>
          <a:lstStyle/>
          <a:p>
            <a:pPr marL="0" indent="0" algn="l">
              <a:lnSpc>
                <a:spcPct val="103000"/>
              </a:lnSpc>
              <a:spcAft>
                <a:spcPts val="1150"/>
              </a:spcAft>
              <a:buNone/>
            </a:pPr>
            <a:endParaRPr lang="en-US" sz="1100" dirty="0"/>
          </a:p>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WORKFLOW</a:t>
            </a:r>
            <a:endParaRPr lang="en-US" sz="1100" dirty="0"/>
          </a:p>
        </p:txBody>
      </p:sp>
      <p:sp>
        <p:nvSpPr>
          <p:cNvPr id="5" name="Text 3"/>
          <p:cNvSpPr/>
          <p:nvPr/>
        </p:nvSpPr>
        <p:spPr>
          <a:xfrm>
            <a:off x="457189" y="2088356"/>
            <a:ext cx="4389030" cy="2827338"/>
          </a:xfrm>
          <a:prstGeom prst="rect">
            <a:avLst/>
          </a:prstGeom>
          <a:noFill/>
          <a:ln/>
        </p:spPr>
        <p:txBody>
          <a:bodyPr wrap="square" lIns="0" tIns="0" rIns="0" bIns="0" rtlCol="0" anchor="t">
            <a:normAutofit/>
          </a:bodyPr>
          <a:lstStyle/>
          <a:p>
            <a:pPr marL="345440" indent="-345440" algn="l">
              <a:lnSpc>
                <a:spcPct val="115000"/>
              </a:lnSpc>
              <a:buSzPct val="100000"/>
              <a:buFont typeface="+mj-lt"/>
              <a:buAutoNum type="arabicPeriod"/>
            </a:pPr>
            <a:r>
              <a:rPr lang="en-US" sz="1700" dirty="0">
                <a:solidFill>
                  <a:srgbClr val="10201D"/>
                </a:solidFill>
                <a:latin typeface="IBM Plex Sans" pitchFamily="34" charset="0"/>
                <a:ea typeface="IBM Plex Sans" pitchFamily="34" charset="-122"/>
                <a:cs typeface="IBM Plex Sans" pitchFamily="34" charset="0"/>
              </a:rPr>
              <a:t>Prepare CSV</a:t>
            </a:r>
            <a:endParaRPr lang="en-US" sz="1700" dirty="0"/>
          </a:p>
          <a:p>
            <a:pPr marL="345440" indent="-345440" algn="l">
              <a:lnSpc>
                <a:spcPct val="115000"/>
              </a:lnSpc>
              <a:buSzPct val="100000"/>
              <a:buFont typeface="+mj-lt"/>
              <a:buAutoNum type="arabicPeriod" startAt="2"/>
            </a:pPr>
            <a:r>
              <a:rPr lang="en-US" sz="1700" dirty="0">
                <a:solidFill>
                  <a:srgbClr val="10201D"/>
                </a:solidFill>
                <a:latin typeface="IBM Plex Sans" pitchFamily="34" charset="0"/>
                <a:ea typeface="IBM Plex Sans" pitchFamily="34" charset="-122"/>
                <a:cs typeface="IBM Plex Sans" pitchFamily="34" charset="0"/>
              </a:rPr>
              <a:t>Start Hadoop</a:t>
            </a:r>
            <a:endParaRPr lang="en-US" sz="1700" dirty="0"/>
          </a:p>
          <a:p>
            <a:pPr marL="345440" indent="-345440" algn="l">
              <a:lnSpc>
                <a:spcPct val="115000"/>
              </a:lnSpc>
              <a:buSzPct val="100000"/>
              <a:buFont typeface="+mj-lt"/>
              <a:buAutoNum type="arabicPeriod" startAt="3"/>
            </a:pPr>
            <a:r>
              <a:rPr lang="en-US" sz="1700" dirty="0">
                <a:solidFill>
                  <a:srgbClr val="10201D"/>
                </a:solidFill>
                <a:latin typeface="IBM Plex Sans" pitchFamily="34" charset="0"/>
                <a:ea typeface="IBM Plex Sans" pitchFamily="34" charset="-122"/>
                <a:cs typeface="IBM Plex Sans" pitchFamily="34" charset="0"/>
              </a:rPr>
              <a:t>Create HDFS input directory</a:t>
            </a:r>
            <a:endParaRPr lang="en-US" sz="1700" dirty="0"/>
          </a:p>
          <a:p>
            <a:pPr marL="345440" indent="-345440" algn="l">
              <a:lnSpc>
                <a:spcPct val="115000"/>
              </a:lnSpc>
              <a:buSzPct val="100000"/>
              <a:buFont typeface="+mj-lt"/>
              <a:buAutoNum type="arabicPeriod" startAt="4"/>
            </a:pPr>
            <a:r>
              <a:rPr lang="en-US" sz="1700" dirty="0">
                <a:solidFill>
                  <a:srgbClr val="10201D"/>
                </a:solidFill>
                <a:latin typeface="IBM Plex Sans" pitchFamily="34" charset="0"/>
                <a:ea typeface="IBM Plex Sans" pitchFamily="34" charset="-122"/>
                <a:cs typeface="IBM Plex Sans" pitchFamily="34" charset="0"/>
              </a:rPr>
              <a:t>Upload data</a:t>
            </a:r>
            <a:endParaRPr lang="en-US" sz="1700" dirty="0"/>
          </a:p>
          <a:p>
            <a:pPr marL="345440" indent="-345440" algn="l">
              <a:lnSpc>
                <a:spcPct val="115000"/>
              </a:lnSpc>
              <a:buSzPct val="100000"/>
              <a:buFont typeface="+mj-lt"/>
              <a:buAutoNum type="arabicPeriod" startAt="5"/>
            </a:pPr>
            <a:r>
              <a:rPr lang="en-US" sz="1700" dirty="0">
                <a:solidFill>
                  <a:srgbClr val="10201D"/>
                </a:solidFill>
                <a:latin typeface="IBM Plex Sans" pitchFamily="34" charset="0"/>
                <a:ea typeface="IBM Plex Sans" pitchFamily="34" charset="-122"/>
                <a:cs typeface="IBM Plex Sans" pitchFamily="34" charset="0"/>
              </a:rPr>
              <a:t>Create Hive database and table</a:t>
            </a:r>
            <a:endParaRPr lang="en-US" sz="1700" dirty="0"/>
          </a:p>
          <a:p>
            <a:pPr marL="345440" indent="-345440" algn="l">
              <a:lnSpc>
                <a:spcPct val="115000"/>
              </a:lnSpc>
              <a:buSzPct val="100000"/>
              <a:buFont typeface="+mj-lt"/>
              <a:buAutoNum type="arabicPeriod" startAt="6"/>
            </a:pPr>
            <a:r>
              <a:rPr lang="en-US" sz="1700" dirty="0">
                <a:solidFill>
                  <a:srgbClr val="10201D"/>
                </a:solidFill>
                <a:latin typeface="IBM Plex Sans" pitchFamily="34" charset="0"/>
                <a:ea typeface="IBM Plex Sans" pitchFamily="34" charset="-122"/>
                <a:cs typeface="IBM Plex Sans" pitchFamily="34" charset="0"/>
              </a:rPr>
              <a:t>Run HiveQL</a:t>
            </a:r>
            <a:endParaRPr lang="en-US" sz="1700" dirty="0"/>
          </a:p>
          <a:p>
            <a:pPr marL="345440" indent="-345440" algn="l">
              <a:lnSpc>
                <a:spcPct val="115000"/>
              </a:lnSpc>
              <a:buSzPct val="100000"/>
              <a:buFont typeface="+mj-lt"/>
              <a:buAutoNum type="arabicPeriod" startAt="7"/>
            </a:pPr>
            <a:r>
              <a:rPr lang="en-US" sz="1700" dirty="0">
                <a:solidFill>
                  <a:srgbClr val="10201D"/>
                </a:solidFill>
                <a:latin typeface="IBM Plex Sans" pitchFamily="34" charset="0"/>
                <a:ea typeface="IBM Plex Sans" pitchFamily="34" charset="-122"/>
                <a:cs typeface="IBM Plex Sans" pitchFamily="34" charset="0"/>
              </a:rPr>
              <a:t>Validate outputs</a:t>
            </a:r>
            <a:endParaRPr lang="en-US" sz="1700" dirty="0"/>
          </a:p>
          <a:p>
            <a:pPr marL="345440" indent="-345440" algn="l">
              <a:lnSpc>
                <a:spcPct val="115000"/>
              </a:lnSpc>
              <a:buSzPct val="100000"/>
              <a:buFont typeface="+mj-lt"/>
              <a:buAutoNum type="arabicPeriod" startAt="8"/>
            </a:pPr>
            <a:r>
              <a:rPr lang="en-US" sz="1700" dirty="0">
                <a:solidFill>
                  <a:srgbClr val="10201D"/>
                </a:solidFill>
                <a:latin typeface="IBM Plex Sans" pitchFamily="34" charset="0"/>
                <a:ea typeface="IBM Plex Sans" pitchFamily="34" charset="-122"/>
                <a:cs typeface="IBM Plex Sans" pitchFamily="34" charset="0"/>
              </a:rPr>
              <a:t>Visualize and interpret</a:t>
            </a:r>
            <a:endParaRPr lang="en-US" sz="1700" dirty="0"/>
          </a:p>
        </p:txBody>
      </p:sp>
      <p:sp>
        <p:nvSpPr>
          <p:cNvPr id="6" name="Text 4"/>
          <p:cNvSpPr/>
          <p:nvPr/>
        </p:nvSpPr>
        <p:spPr>
          <a:xfrm>
            <a:off x="5150912" y="1443633"/>
            <a:ext cx="6583595" cy="495498"/>
          </a:xfrm>
          <a:prstGeom prst="rect">
            <a:avLst/>
          </a:prstGeom>
          <a:noFill/>
          <a:ln/>
        </p:spPr>
        <p:txBody>
          <a:bodyPr wrap="square" lIns="0" tIns="0" rIns="0" bIns="0" rtlCol="0" anchor="t"/>
          <a:lstStyle/>
          <a:p>
            <a:pPr marL="0" indent="0" algn="l">
              <a:lnSpc>
                <a:spcPct val="103000"/>
              </a:lnSpc>
              <a:spcAft>
                <a:spcPts val="1150"/>
              </a:spcAft>
              <a:buNone/>
            </a:pPr>
            <a:endParaRPr lang="en-US" sz="1100" dirty="0"/>
          </a:p>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HIVEQL: TABLE AND SUBJECT-WISE ATTENDANCE</a:t>
            </a:r>
            <a:endParaRPr lang="en-US" sz="1100" dirty="0"/>
          </a:p>
        </p:txBody>
      </p:sp>
      <p:sp>
        <p:nvSpPr>
          <p:cNvPr id="7" name="Text 5"/>
          <p:cNvSpPr/>
          <p:nvPr/>
        </p:nvSpPr>
        <p:spPr>
          <a:xfrm>
            <a:off x="5150912" y="2088356"/>
            <a:ext cx="6583595" cy="2532063"/>
          </a:xfrm>
          <a:prstGeom prst="rect">
            <a:avLst/>
          </a:prstGeom>
          <a:noFill/>
          <a:ln/>
        </p:spPr>
        <p:txBody>
          <a:bodyPr wrap="square" lIns="0" tIns="0" rIns="0" bIns="0" rtlCol="0" anchor="t">
            <a:normAutofit/>
          </a:bodyPr>
          <a:lstStyle/>
          <a:p>
            <a:pPr marL="0" indent="0" algn="l">
              <a:lnSpc>
                <a:spcPct val="115000"/>
              </a:lnSpc>
              <a:spcAft>
                <a:spcPts val="1150"/>
              </a:spcAft>
              <a:buNone/>
            </a:pPr>
            <a:r>
              <a:rPr lang="en-US" sz="1700" dirty="0">
                <a:solidFill>
                  <a:srgbClr val="10201D"/>
                </a:solidFill>
                <a:highlight>
                  <a:srgbClr val="FFFFFF"/>
                </a:highlight>
                <a:latin typeface="Consolas" pitchFamily="34" charset="0"/>
                <a:ea typeface="Consolas" pitchFamily="34" charset="-122"/>
                <a:cs typeface="Consolas" pitchFamily="34" charset="0"/>
              </a:rPr>
              <a:t>CREATE EXTERNAL TABLE attendance (...) ROW FORMAT DELIMITED FIELDS TERMINATED BY ',' LOCATION '/bda/attendance';</a:t>
            </a:r>
            <a:endParaRPr lang="en-US" sz="1700" dirty="0"/>
          </a:p>
          <a:p>
            <a:pPr marL="0" indent="0" algn="l">
              <a:lnSpc>
                <a:spcPct val="115000"/>
              </a:lnSpc>
              <a:buNone/>
            </a:pPr>
            <a:r>
              <a:rPr lang="en-US" sz="1700" dirty="0">
                <a:solidFill>
                  <a:srgbClr val="10201D"/>
                </a:solidFill>
                <a:highlight>
                  <a:srgbClr val="FFFFFF"/>
                </a:highlight>
                <a:latin typeface="Consolas" pitchFamily="34" charset="0"/>
                <a:ea typeface="Consolas" pitchFamily="34" charset="-122"/>
                <a:cs typeface="Consolas" pitchFamily="34" charset="0"/>
              </a:rPr>
              <a:t>SELECT subject_code, COUNT(*) AS total, SUM(CASE WHEN status='PRESENT' THEN 1 ELSE 0 END) AS present, ROUND(100*SUM(CASE WHEN status='PRESENT' THEN 1 ELSE 0 END)/COUNT(*),2) AS pct FROM attendance GROUP BY subject_code;</a:t>
            </a:r>
            <a:endParaRPr lang="en-US" sz="1700" dirty="0"/>
          </a:p>
        </p:txBody>
      </p:sp>
      <p:pic>
        <p:nvPicPr>
          <p:cNvPr id="9" name="Picture 8">
            <a:extLst>
              <a:ext uri="{FF2B5EF4-FFF2-40B4-BE49-F238E27FC236}">
                <a16:creationId xmlns:a16="http://schemas.microsoft.com/office/drawing/2014/main" id="{BCD15BEF-99CE-F269-C8B7-A857AB9F73AA}"/>
              </a:ext>
            </a:extLst>
          </p:cNvPr>
          <p:cNvPicPr>
            <a:picLocks noChangeAspect="1"/>
          </p:cNvPicPr>
          <p:nvPr/>
        </p:nvPicPr>
        <p:blipFill>
          <a:blip r:embed="rId3"/>
          <a:stretch>
            <a:fillRect/>
          </a:stretch>
        </p:blipFill>
        <p:spPr>
          <a:xfrm>
            <a:off x="10843143" y="6417120"/>
            <a:ext cx="1348857" cy="4343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415480"/>
            <a:ext cx="11683708"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ANALYTICAL SCOPE</a:t>
            </a:r>
            <a:endParaRPr lang="en-US" sz="1100" dirty="0"/>
          </a:p>
        </p:txBody>
      </p:sp>
      <p:sp>
        <p:nvSpPr>
          <p:cNvPr id="3" name="Text 1"/>
          <p:cNvSpPr/>
          <p:nvPr/>
        </p:nvSpPr>
        <p:spPr>
          <a:xfrm>
            <a:off x="507987" y="714347"/>
            <a:ext cx="11175720"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Key analytics performed</a:t>
            </a:r>
            <a:endParaRPr lang="en-US" sz="3400" dirty="0"/>
          </a:p>
        </p:txBody>
      </p:sp>
      <p:sp>
        <p:nvSpPr>
          <p:cNvPr id="4" name="Text 2"/>
          <p:cNvSpPr/>
          <p:nvPr/>
        </p:nvSpPr>
        <p:spPr>
          <a:xfrm>
            <a:off x="507987" y="1635149"/>
            <a:ext cx="5716544" cy="402332"/>
          </a:xfrm>
          <a:prstGeom prst="rect">
            <a:avLst/>
          </a:prstGeom>
          <a:noFill/>
          <a:ln/>
        </p:spPr>
        <p:txBody>
          <a:bodyPr wrap="none" lIns="0" tIns="0" rIns="0" bIns="0" rtlCol="0" anchor="t"/>
          <a:lstStyle/>
          <a:p>
            <a:pPr marL="0" indent="0" algn="l">
              <a:lnSpc>
                <a:spcPct val="110000"/>
              </a:lnSpc>
              <a:buNone/>
            </a:pPr>
            <a:r>
              <a:rPr lang="en-US" sz="2400" dirty="0">
                <a:solidFill>
                  <a:srgbClr val="10201D"/>
                </a:solidFill>
                <a:latin typeface="IBM Plex Sans" pitchFamily="34" charset="0"/>
                <a:ea typeface="IBM Plex Sans" pitchFamily="34" charset="-122"/>
                <a:cs typeface="IBM Plex Sans" pitchFamily="34" charset="0"/>
              </a:rPr>
              <a:t>Analytics performed</a:t>
            </a:r>
            <a:endParaRPr lang="en-US" sz="2400" dirty="0"/>
          </a:p>
        </p:txBody>
      </p:sp>
      <p:sp>
        <p:nvSpPr>
          <p:cNvPr id="5" name="Text 3"/>
          <p:cNvSpPr/>
          <p:nvPr/>
        </p:nvSpPr>
        <p:spPr>
          <a:xfrm>
            <a:off x="507987" y="2207915"/>
            <a:ext cx="5716544" cy="1679773"/>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0"/>
              </a:rPr>
              <a:t>Subject-wise attendance percentage; present vs absent counts</a:t>
            </a:r>
            <a:endParaRPr lang="en-US" sz="1700" dirty="0"/>
          </a:p>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0"/>
              </a:rPr>
              <a:t>Low-attendance student/subject combinations</a:t>
            </a:r>
            <a:endParaRPr lang="en-US" sz="1700" dirty="0"/>
          </a:p>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0"/>
              </a:rPr>
              <a:t>Department and section comparison</a:t>
            </a:r>
            <a:endParaRPr lang="en-US" sz="1700" dirty="0"/>
          </a:p>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0"/>
              </a:rPr>
              <a:t>Daily/weekly trends; semester comparison</a:t>
            </a:r>
            <a:endParaRPr lang="en-US" sz="1700" dirty="0"/>
          </a:p>
        </p:txBody>
      </p:sp>
      <p:sp>
        <p:nvSpPr>
          <p:cNvPr id="6" name="Shape 4"/>
          <p:cNvSpPr/>
          <p:nvPr/>
        </p:nvSpPr>
        <p:spPr>
          <a:xfrm>
            <a:off x="6681620" y="947359"/>
            <a:ext cx="5002087" cy="5109567"/>
          </a:xfrm>
          <a:prstGeom prst="roundRect">
            <a:avLst>
              <a:gd name="adj" fmla="val 1813"/>
            </a:avLst>
          </a:prstGeom>
          <a:solidFill>
            <a:srgbClr val="FFFFFF"/>
          </a:solidFill>
          <a:ln w="25399">
            <a:solidFill>
              <a:srgbClr val="CBCFC0"/>
            </a:solidFill>
            <a:prstDash val="solid"/>
          </a:ln>
        </p:spPr>
      </p:sp>
      <p:sp>
        <p:nvSpPr>
          <p:cNvPr id="7" name="Text 5"/>
          <p:cNvSpPr/>
          <p:nvPr/>
        </p:nvSpPr>
        <p:spPr>
          <a:xfrm>
            <a:off x="6935614" y="1215075"/>
            <a:ext cx="4494100" cy="402332"/>
          </a:xfrm>
          <a:prstGeom prst="rect">
            <a:avLst/>
          </a:prstGeom>
          <a:noFill/>
          <a:ln/>
        </p:spPr>
        <p:txBody>
          <a:bodyPr wrap="none" lIns="0" tIns="0" rIns="0" bIns="0" rtlCol="0" anchor="t"/>
          <a:lstStyle/>
          <a:p>
            <a:pPr marL="0" indent="0" algn="l">
              <a:lnSpc>
                <a:spcPct val="110000"/>
              </a:lnSpc>
              <a:buNone/>
            </a:pPr>
            <a:r>
              <a:rPr lang="en-US" sz="2400" dirty="0">
                <a:solidFill>
                  <a:srgbClr val="10201D"/>
                </a:solidFill>
                <a:latin typeface="IBM Plex Sans" pitchFamily="34" charset="0"/>
                <a:ea typeface="IBM Plex Sans" pitchFamily="34" charset="-122"/>
                <a:cs typeface="IBM Plex Sans" pitchFamily="34" charset="0"/>
              </a:rPr>
              <a:t>Low-attendance filter</a:t>
            </a:r>
            <a:endParaRPr lang="en-US" sz="2400" dirty="0"/>
          </a:p>
        </p:txBody>
      </p:sp>
      <p:sp>
        <p:nvSpPr>
          <p:cNvPr id="8" name="Text 6"/>
          <p:cNvSpPr/>
          <p:nvPr/>
        </p:nvSpPr>
        <p:spPr>
          <a:xfrm>
            <a:off x="6935614" y="1794318"/>
            <a:ext cx="4494100"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highlight>
                  <a:srgbClr val="FFFFFF"/>
                </a:highlight>
                <a:latin typeface="Consolas" pitchFamily="34" charset="0"/>
                <a:ea typeface="Consolas" pitchFamily="34" charset="-122"/>
                <a:cs typeface="Consolas" pitchFamily="34" charset="0"/>
              </a:rPr>
              <a:t>GROUP BY student_id, subject_code</a:t>
            </a:r>
            <a:endParaRPr lang="en-US" sz="1700" dirty="0"/>
          </a:p>
          <a:p>
            <a:pPr marL="0" indent="0" algn="l">
              <a:lnSpc>
                <a:spcPct val="115000"/>
              </a:lnSpc>
              <a:buNone/>
            </a:pPr>
            <a:r>
              <a:rPr lang="en-US" sz="1700" dirty="0">
                <a:solidFill>
                  <a:srgbClr val="10201D"/>
                </a:solidFill>
                <a:highlight>
                  <a:srgbClr val="FFFFFF"/>
                </a:highlight>
                <a:latin typeface="Consolas" pitchFamily="34" charset="0"/>
                <a:ea typeface="Consolas" pitchFamily="34" charset="-122"/>
                <a:cs typeface="Consolas" pitchFamily="34" charset="0"/>
              </a:rPr>
              <a:t>HAVING attendance pct &lt; 75</a:t>
            </a:r>
            <a:endParaRPr lang="en-US" sz="1700" dirty="0"/>
          </a:p>
        </p:txBody>
      </p:sp>
      <p:sp>
        <p:nvSpPr>
          <p:cNvPr id="9" name="Text 7"/>
          <p:cNvSpPr/>
          <p:nvPr/>
        </p:nvSpPr>
        <p:spPr>
          <a:xfrm>
            <a:off x="6935614" y="2539062"/>
            <a:ext cx="4748094" cy="184348"/>
          </a:xfrm>
          <a:prstGeom prst="rect">
            <a:avLst/>
          </a:prstGeom>
          <a:noFill/>
          <a:ln/>
        </p:spPr>
        <p:txBody>
          <a:bodyPr wrap="none" lIns="0" tIns="0" rIns="0" bIns="0" rtlCol="0" anchor="t"/>
          <a:lstStyle/>
          <a:p>
            <a:pPr marL="0" indent="0" algn="l">
              <a:lnSpc>
                <a:spcPct val="110000"/>
              </a:lnSpc>
              <a:buNone/>
            </a:pPr>
            <a:r>
              <a:rPr lang="en-US" sz="1100" dirty="0">
                <a:solidFill>
                  <a:srgbClr val="10201D"/>
                </a:solidFill>
                <a:latin typeface="IBM Plex Sans" pitchFamily="34" charset="0"/>
                <a:ea typeface="IBM Plex Sans" pitchFamily="34" charset="-122"/>
                <a:cs typeface="IBM Plex Sans" pitchFamily="34" charset="0"/>
              </a:rPr>
              <a:t>Threshold is configurable.</a:t>
            </a:r>
            <a:endParaRPr lang="en-US" sz="1100" dirty="0"/>
          </a:p>
        </p:txBody>
      </p:sp>
      <p:pic>
        <p:nvPicPr>
          <p:cNvPr id="11" name="Picture 10">
            <a:extLst>
              <a:ext uri="{FF2B5EF4-FFF2-40B4-BE49-F238E27FC236}">
                <a16:creationId xmlns:a16="http://schemas.microsoft.com/office/drawing/2014/main" id="{20B15C33-83BA-68FC-EF1B-CA80F23F61AB}"/>
              </a:ext>
            </a:extLst>
          </p:cNvPr>
          <p:cNvPicPr>
            <a:picLocks noChangeAspect="1"/>
          </p:cNvPicPr>
          <p:nvPr/>
        </p:nvPicPr>
        <p:blipFill>
          <a:blip r:embed="rId3"/>
          <a:stretch>
            <a:fillRect/>
          </a:stretch>
        </p:blipFill>
        <p:spPr>
          <a:xfrm>
            <a:off x="10843143" y="6417120"/>
            <a:ext cx="1348857" cy="4343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658F864E-6AB7-C773-DBDC-3DF1DFA57A06}"/>
              </a:ext>
            </a:extLst>
          </p:cNvPr>
          <p:cNvPicPr>
            <a:picLocks noChangeAspect="1"/>
          </p:cNvPicPr>
          <p:nvPr/>
        </p:nvPicPr>
        <p:blipFill>
          <a:blip r:embed="rId3"/>
          <a:stretch>
            <a:fillRect/>
          </a:stretch>
        </p:blipFill>
        <p:spPr>
          <a:xfrm>
            <a:off x="10843143" y="6417120"/>
            <a:ext cx="1348857" cy="434378"/>
          </a:xfrm>
          <a:prstGeom prst="rect">
            <a:avLst/>
          </a:prstGeom>
        </p:spPr>
      </p:pic>
      <p:sp>
        <p:nvSpPr>
          <p:cNvPr id="2" name="Text 0"/>
          <p:cNvSpPr/>
          <p:nvPr/>
        </p:nvSpPr>
        <p:spPr>
          <a:xfrm>
            <a:off x="507987" y="161480"/>
            <a:ext cx="11683708"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CLUSTER EXECUTION FINDINGS</a:t>
            </a:r>
            <a:endParaRPr lang="en-US" sz="1100" dirty="0"/>
          </a:p>
        </p:txBody>
      </p:sp>
      <p:sp>
        <p:nvSpPr>
          <p:cNvPr id="3" name="Text 1"/>
          <p:cNvSpPr/>
          <p:nvPr/>
        </p:nvSpPr>
        <p:spPr>
          <a:xfrm>
            <a:off x="507987" y="460347"/>
            <a:ext cx="11175720"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Results</a:t>
            </a:r>
            <a:endParaRPr lang="en-US" sz="3400" dirty="0"/>
          </a:p>
        </p:txBody>
      </p:sp>
      <p:sp>
        <p:nvSpPr>
          <p:cNvPr id="4" name="Text 2"/>
          <p:cNvSpPr/>
          <p:nvPr/>
        </p:nvSpPr>
        <p:spPr>
          <a:xfrm>
            <a:off x="507987" y="1145310"/>
            <a:ext cx="11683708" cy="297855"/>
          </a:xfrm>
          <a:prstGeom prst="rect">
            <a:avLst/>
          </a:prstGeom>
          <a:noFill/>
          <a:ln/>
        </p:spPr>
        <p:txBody>
          <a:bodyPr wrap="none" lIns="0" tIns="0" rIns="0" bIns="0" rtlCol="0" anchor="t"/>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0"/>
              </a:rPr>
              <a:t>Execution metrics captured following MapReduce job completion on the Hadoop cluster.</a:t>
            </a:r>
            <a:endParaRPr lang="en-US" sz="1700" dirty="0"/>
          </a:p>
        </p:txBody>
      </p:sp>
      <p:sp>
        <p:nvSpPr>
          <p:cNvPr id="5" name="Shape 3"/>
          <p:cNvSpPr/>
          <p:nvPr/>
        </p:nvSpPr>
        <p:spPr>
          <a:xfrm>
            <a:off x="507987" y="1696145"/>
            <a:ext cx="5435464" cy="5060255"/>
          </a:xfrm>
          <a:prstGeom prst="roundRect">
            <a:avLst>
              <a:gd name="adj" fmla="val 4216"/>
            </a:avLst>
          </a:prstGeom>
          <a:solidFill>
            <a:srgbClr val="FFFFFF"/>
          </a:solidFill>
          <a:ln w="6350">
            <a:solidFill>
              <a:srgbClr val="CBD4CE"/>
            </a:solidFill>
            <a:prstDash val="solid"/>
          </a:ln>
          <a:effectLst>
            <a:outerShdw blurRad="227330" dist="74930" dir="5400000" algn="bl" rotWithShape="0">
              <a:srgbClr val="083C35">
                <a:alpha val="10000"/>
              </a:srgbClr>
            </a:outerShdw>
          </a:effectLst>
        </p:spPr>
      </p:sp>
      <p:sp>
        <p:nvSpPr>
          <p:cNvPr id="6" name="Text 4"/>
          <p:cNvSpPr/>
          <p:nvPr/>
        </p:nvSpPr>
        <p:spPr>
          <a:xfrm>
            <a:off x="742931" y="1890582"/>
            <a:ext cx="4965576"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Cluster Metrics Placeholder</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2931" y="2309019"/>
          <a:ext cx="4965576" cy="4263123"/>
        </p:xfrm>
        <a:graphic>
          <a:graphicData uri="http://schemas.openxmlformats.org/drawingml/2006/table">
            <a:tbl>
              <a:tblPr/>
              <a:tblGrid>
                <a:gridCol w="2979266">
                  <a:extLst>
                    <a:ext uri="{9D8B030D-6E8A-4147-A177-3AD203B41FA5}">
                      <a16:colId xmlns:a16="http://schemas.microsoft.com/office/drawing/2014/main" val="20000"/>
                    </a:ext>
                  </a:extLst>
                </a:gridCol>
                <a:gridCol w="1986310">
                  <a:extLst>
                    <a:ext uri="{9D8B030D-6E8A-4147-A177-3AD203B41FA5}">
                      <a16:colId xmlns:a16="http://schemas.microsoft.com/office/drawing/2014/main" val="20001"/>
                    </a:ext>
                  </a:extLst>
                </a:gridCol>
              </a:tblGrid>
              <a:tr h="483183">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Metric Name</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Output Value</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83183">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Total records processed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0201D"/>
                          </a:solidFill>
                          <a:latin typeface="IBM Plex Sans" pitchFamily="34" charset="0"/>
                          <a:ea typeface="IBM Plex Sans" pitchFamily="34" charset="-122"/>
                          <a:cs typeface="IBM Plex Sans" pitchFamily="34" charset="0"/>
                        </a:rPr>
                        <a:t>[To be inserted]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1030">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Overall campus attendance %</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0201D"/>
                          </a:solidFill>
                          <a:latin typeface="IBM Plex Sans" pitchFamily="34" charset="0"/>
                          <a:ea typeface="IBM Plex Sans" pitchFamily="34" charset="-122"/>
                          <a:cs typeface="IBM Plex Sans" pitchFamily="34" charset="0"/>
                        </a:rPr>
                        <a:t>[To be inserted]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3183">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Highest attendance subject</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0201D"/>
                          </a:solidFill>
                          <a:latin typeface="IBM Plex Sans" pitchFamily="34" charset="0"/>
                          <a:ea typeface="IBM Plex Sans" pitchFamily="34" charset="-122"/>
                          <a:cs typeface="IBM Plex Sans" pitchFamily="34" charset="0"/>
                        </a:rPr>
                        <a:t>[To be inserted]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3183">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Lowest attendance subject</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0201D"/>
                          </a:solidFill>
                          <a:latin typeface="IBM Plex Sans" pitchFamily="34" charset="0"/>
                          <a:ea typeface="IBM Plex Sans" pitchFamily="34" charset="-122"/>
                          <a:cs typeface="IBM Plex Sans" pitchFamily="34" charset="0"/>
                        </a:rPr>
                        <a:t>[To be inserted]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81030">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Low-attendance cases (&lt;75%)</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0201D"/>
                          </a:solidFill>
                          <a:latin typeface="IBM Plex Sans" pitchFamily="34" charset="0"/>
                          <a:ea typeface="IBM Plex Sans" pitchFamily="34" charset="-122"/>
                          <a:cs typeface="IBM Plex Sans" pitchFamily="34" charset="0"/>
                        </a:rPr>
                        <a:t>[To be inserted]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68331">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0"/>
                        </a:rPr>
                        <a:t>Peak absence day / section trend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0201D"/>
                          </a:solidFill>
                          <a:latin typeface="IBM Plex Sans" pitchFamily="34" charset="0"/>
                          <a:ea typeface="IBM Plex Sans" pitchFamily="34" charset="-122"/>
                          <a:cs typeface="IBM Plex Sans" pitchFamily="34" charset="0"/>
                        </a:rPr>
                        <a:t>[To be inserted]</a:t>
                      </a:r>
                      <a:endParaRPr lang="en-US" sz="1700" dirty="0">
                        <a:latin typeface="IBM Plex Sans" charset="0"/>
                        <a:ea typeface="IBM Plex Sans" charset="0"/>
                        <a:cs typeface="IBM Plex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5"/>
          <p:cNvSpPr/>
          <p:nvPr/>
        </p:nvSpPr>
        <p:spPr>
          <a:xfrm>
            <a:off x="6248244" y="1696145"/>
            <a:ext cx="5435464" cy="5060255"/>
          </a:xfrm>
          <a:prstGeom prst="roundRect">
            <a:avLst>
              <a:gd name="adj" fmla="val 4819"/>
            </a:avLst>
          </a:prstGeom>
          <a:solidFill>
            <a:srgbClr val="083C35"/>
          </a:solidFill>
          <a:ln/>
          <a:effectLst>
            <a:outerShdw blurRad="354330" dist="125730" dir="5400000" algn="bl" rotWithShape="0">
              <a:srgbClr val="083C35">
                <a:alpha val="20000"/>
              </a:srgbClr>
            </a:outerShdw>
          </a:effectLst>
        </p:spPr>
      </p:sp>
      <p:sp>
        <p:nvSpPr>
          <p:cNvPr id="9" name="Text 6"/>
          <p:cNvSpPr/>
          <p:nvPr/>
        </p:nvSpPr>
        <p:spPr>
          <a:xfrm>
            <a:off x="6476838" y="1884232"/>
            <a:ext cx="4978275" cy="301724"/>
          </a:xfrm>
          <a:prstGeom prst="rect">
            <a:avLst/>
          </a:prstGeom>
          <a:noFill/>
          <a:ln/>
        </p:spPr>
        <p:txBody>
          <a:bodyPr wrap="none" lIns="0" tIns="0" rIns="0" bIns="0" rtlCol="0" anchor="t"/>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0"/>
              </a:rPr>
              <a:t>Execution Verification Checklist</a:t>
            </a:r>
            <a:endParaRPr lang="en-US" sz="1800" dirty="0"/>
          </a:p>
        </p:txBody>
      </p:sp>
      <p:sp>
        <p:nvSpPr>
          <p:cNvPr id="10" name="Text 7"/>
          <p:cNvSpPr/>
          <p:nvPr/>
        </p:nvSpPr>
        <p:spPr>
          <a:xfrm>
            <a:off x="6476838" y="2309146"/>
            <a:ext cx="4978275" cy="595709"/>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HDFS listing capture: </a:t>
            </a:r>
            <a:r>
              <a:rPr lang="en-US" sz="1700" dirty="0">
                <a:solidFill>
                  <a:srgbClr val="FFFFFF"/>
                </a:solidFill>
                <a:highlight>
                  <a:srgbClr val="FFFFFF"/>
                </a:highlight>
                <a:latin typeface="Consolas" pitchFamily="34" charset="0"/>
                <a:ea typeface="Consolas" pitchFamily="34" charset="-122"/>
                <a:cs typeface="Consolas" pitchFamily="34" charset="0"/>
              </a:rPr>
              <a:t>hdfs dfs -ls /bda/attendance</a:t>
            </a:r>
            <a:endParaRPr lang="en-US" sz="1700" dirty="0"/>
          </a:p>
        </p:txBody>
      </p:sp>
      <p:sp>
        <p:nvSpPr>
          <p:cNvPr id="11" name="Shape 8"/>
          <p:cNvSpPr/>
          <p:nvPr/>
        </p:nvSpPr>
        <p:spPr>
          <a:xfrm>
            <a:off x="6476838" y="2343646"/>
            <a:ext cx="215895" cy="215900"/>
          </a:xfrm>
          <a:prstGeom prst="roundRect">
            <a:avLst>
              <a:gd name="adj" fmla="val 42000"/>
            </a:avLst>
          </a:prstGeom>
          <a:noFill/>
          <a:ln w="25399">
            <a:solidFill>
              <a:srgbClr val="18B49F"/>
            </a:solidFill>
            <a:prstDash val="solid"/>
          </a:ln>
        </p:spPr>
      </p:sp>
      <p:sp>
        <p:nvSpPr>
          <p:cNvPr id="12" name="Text 9"/>
          <p:cNvSpPr/>
          <p:nvPr/>
        </p:nvSpPr>
        <p:spPr>
          <a:xfrm>
            <a:off x="6476838" y="2968355"/>
            <a:ext cx="4978275" cy="595709"/>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Hive CLI metastore catalog verification: </a:t>
            </a:r>
            <a:r>
              <a:rPr lang="en-US" sz="1700" dirty="0">
                <a:solidFill>
                  <a:srgbClr val="FFFFFF"/>
                </a:solidFill>
                <a:highlight>
                  <a:srgbClr val="FFFFFF"/>
                </a:highlight>
                <a:latin typeface="Consolas" pitchFamily="34" charset="0"/>
                <a:ea typeface="Consolas" pitchFamily="34" charset="-122"/>
                <a:cs typeface="Consolas" pitchFamily="34" charset="0"/>
              </a:rPr>
              <a:t>DESCRIBE FORMATTED attendance</a:t>
            </a:r>
            <a:endParaRPr lang="en-US" sz="1700" dirty="0"/>
          </a:p>
        </p:txBody>
      </p:sp>
      <p:sp>
        <p:nvSpPr>
          <p:cNvPr id="13" name="Shape 10"/>
          <p:cNvSpPr/>
          <p:nvPr/>
        </p:nvSpPr>
        <p:spPr>
          <a:xfrm>
            <a:off x="6476838" y="3002855"/>
            <a:ext cx="215895" cy="215900"/>
          </a:xfrm>
          <a:prstGeom prst="roundRect">
            <a:avLst>
              <a:gd name="adj" fmla="val 42000"/>
            </a:avLst>
          </a:prstGeom>
          <a:noFill/>
          <a:ln w="25399">
            <a:solidFill>
              <a:srgbClr val="18B49F"/>
            </a:solidFill>
            <a:prstDash val="solid"/>
          </a:ln>
        </p:spPr>
      </p:sp>
      <p:sp>
        <p:nvSpPr>
          <p:cNvPr id="14" name="Text 11"/>
          <p:cNvSpPr/>
          <p:nvPr/>
        </p:nvSpPr>
        <p:spPr>
          <a:xfrm>
            <a:off x="6476838" y="3627564"/>
            <a:ext cx="4978275" cy="595709"/>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Job tracker console logs &amp; MapReduce execution elapsed time</a:t>
            </a:r>
            <a:endParaRPr lang="en-US" sz="1700" dirty="0"/>
          </a:p>
        </p:txBody>
      </p:sp>
      <p:sp>
        <p:nvSpPr>
          <p:cNvPr id="15" name="Shape 12"/>
          <p:cNvSpPr/>
          <p:nvPr/>
        </p:nvSpPr>
        <p:spPr>
          <a:xfrm>
            <a:off x="6476838" y="3662065"/>
            <a:ext cx="215895" cy="215900"/>
          </a:xfrm>
          <a:prstGeom prst="roundRect">
            <a:avLst>
              <a:gd name="adj" fmla="val 42000"/>
            </a:avLst>
          </a:prstGeom>
          <a:noFill/>
          <a:ln w="25399">
            <a:solidFill>
              <a:srgbClr val="18B49F"/>
            </a:solidFill>
            <a:prstDash val="solid"/>
          </a:ln>
        </p:spPr>
      </p:sp>
      <p:sp>
        <p:nvSpPr>
          <p:cNvPr id="16" name="Text 13"/>
          <p:cNvSpPr/>
          <p:nvPr/>
        </p:nvSpPr>
        <p:spPr>
          <a:xfrm>
            <a:off x="6476838" y="4286774"/>
            <a:ext cx="4978275" cy="595709"/>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Final terminal export tabular output ready for defense</a:t>
            </a:r>
            <a:endParaRPr lang="en-US" sz="1700" dirty="0"/>
          </a:p>
        </p:txBody>
      </p:sp>
      <p:sp>
        <p:nvSpPr>
          <p:cNvPr id="17" name="Shape 14"/>
          <p:cNvSpPr/>
          <p:nvPr/>
        </p:nvSpPr>
        <p:spPr>
          <a:xfrm>
            <a:off x="6476838" y="4321274"/>
            <a:ext cx="215895" cy="215900"/>
          </a:xfrm>
          <a:prstGeom prst="roundRect">
            <a:avLst>
              <a:gd name="adj" fmla="val 42000"/>
            </a:avLst>
          </a:prstGeom>
          <a:noFill/>
          <a:ln w="25399">
            <a:solidFill>
              <a:srgbClr val="18B49F"/>
            </a:solidFill>
            <a:prstDash val="solid"/>
          </a:ln>
        </p:spPr>
      </p:sp>
      <p:sp>
        <p:nvSpPr>
          <p:cNvPr id="18" name="Shape 15"/>
          <p:cNvSpPr/>
          <p:nvPr/>
        </p:nvSpPr>
        <p:spPr>
          <a:xfrm>
            <a:off x="6476838" y="5028406"/>
            <a:ext cx="4978275" cy="1275556"/>
          </a:xfrm>
          <a:prstGeom prst="roundRect">
            <a:avLst>
              <a:gd name="adj" fmla="val 7109"/>
            </a:avLst>
          </a:prstGeom>
          <a:solidFill>
            <a:srgbClr val="D2F9F4"/>
          </a:solidFill>
          <a:ln/>
        </p:spPr>
      </p:sp>
      <p:pic>
        <p:nvPicPr>
          <p:cNvPr id="19" name="Image 0" descr="preencoded.png"/>
          <p:cNvPicPr>
            <a:picLocks noChangeAspect="1"/>
          </p:cNvPicPr>
          <p:nvPr/>
        </p:nvPicPr>
        <p:blipFill>
          <a:blip r:embed="rId4"/>
          <a:stretch>
            <a:fillRect/>
          </a:stretch>
        </p:blipFill>
        <p:spPr>
          <a:xfrm>
            <a:off x="6692733" y="5331321"/>
            <a:ext cx="215895" cy="172641"/>
          </a:xfrm>
          <a:prstGeom prst="rect">
            <a:avLst/>
          </a:prstGeom>
        </p:spPr>
      </p:pic>
      <p:sp>
        <p:nvSpPr>
          <p:cNvPr id="20" name="Text 16"/>
          <p:cNvSpPr/>
          <p:nvPr/>
        </p:nvSpPr>
        <p:spPr>
          <a:xfrm>
            <a:off x="7124522" y="5303615"/>
            <a:ext cx="4114697"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000000"/>
                </a:solidFill>
                <a:latin typeface="IBM Plex Sans" pitchFamily="34" charset="0"/>
                <a:ea typeface="IBM Plex Sans" pitchFamily="34" charset="-122"/>
                <a:cs typeface="IBM Plex Sans" pitchFamily="34" charset="0"/>
              </a:rPr>
              <a:t>Values are intentionally preserved as placeholders until final live cluster benchmark execution during project evaluation.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45332BC4-D7B4-A305-3760-53E9E3EA48B7}"/>
              </a:ext>
            </a:extLst>
          </p:cNvPr>
          <p:cNvPicPr>
            <a:picLocks noChangeAspect="1"/>
          </p:cNvPicPr>
          <p:nvPr/>
        </p:nvPicPr>
        <p:blipFill>
          <a:blip r:embed="rId3"/>
          <a:stretch>
            <a:fillRect/>
          </a:stretch>
        </p:blipFill>
        <p:spPr>
          <a:xfrm>
            <a:off x="10843143" y="6417120"/>
            <a:ext cx="1348857" cy="434378"/>
          </a:xfrm>
          <a:prstGeom prst="rect">
            <a:avLst/>
          </a:prstGeom>
        </p:spPr>
      </p:pic>
      <p:sp>
        <p:nvSpPr>
          <p:cNvPr id="2" name="Text 0"/>
          <p:cNvSpPr/>
          <p:nvPr/>
        </p:nvSpPr>
        <p:spPr>
          <a:xfrm>
            <a:off x="507987" y="415480"/>
            <a:ext cx="11683708"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PRACTICAL ASSESSMENT PROTOCOL</a:t>
            </a:r>
            <a:endParaRPr lang="en-US" sz="1100" dirty="0"/>
          </a:p>
        </p:txBody>
      </p:sp>
      <p:sp>
        <p:nvSpPr>
          <p:cNvPr id="3" name="Text 1"/>
          <p:cNvSpPr/>
          <p:nvPr/>
        </p:nvSpPr>
        <p:spPr>
          <a:xfrm>
            <a:off x="507987" y="714347"/>
            <a:ext cx="11175720"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Live demonstration flow</a:t>
            </a:r>
            <a:endParaRPr lang="en-US" sz="3400" dirty="0"/>
          </a:p>
        </p:txBody>
      </p:sp>
      <p:sp>
        <p:nvSpPr>
          <p:cNvPr id="4" name="Text 2"/>
          <p:cNvSpPr/>
          <p:nvPr/>
        </p:nvSpPr>
        <p:spPr>
          <a:xfrm>
            <a:off x="507987" y="1399310"/>
            <a:ext cx="11683708" cy="297855"/>
          </a:xfrm>
          <a:prstGeom prst="rect">
            <a:avLst/>
          </a:prstGeom>
          <a:noFill/>
          <a:ln/>
        </p:spPr>
        <p:txBody>
          <a:bodyPr wrap="none" lIns="0" tIns="0" rIns="0" bIns="0" rtlCol="0" anchor="t"/>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0"/>
              </a:rPr>
              <a:t>Eight-stage operational sequence for the lab evaluation and terminal walkthrough</a:t>
            </a:r>
            <a:endParaRPr lang="en-US" sz="1700" dirty="0"/>
          </a:p>
        </p:txBody>
      </p:sp>
      <p:sp>
        <p:nvSpPr>
          <p:cNvPr id="5" name="Text 3"/>
          <p:cNvSpPr/>
          <p:nvPr/>
        </p:nvSpPr>
        <p:spPr>
          <a:xfrm>
            <a:off x="507987" y="2687638"/>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01</a:t>
            </a:r>
            <a:endParaRPr lang="en-US" sz="1700" dirty="0"/>
          </a:p>
        </p:txBody>
      </p:sp>
      <p:sp>
        <p:nvSpPr>
          <p:cNvPr id="6" name="Shape 4"/>
          <p:cNvSpPr/>
          <p:nvPr/>
        </p:nvSpPr>
        <p:spPr>
          <a:xfrm>
            <a:off x="507987" y="2989858"/>
            <a:ext cx="2565237" cy="19050"/>
          </a:xfrm>
          <a:prstGeom prst="rect">
            <a:avLst/>
          </a:prstGeom>
          <a:solidFill>
            <a:srgbClr val="083C35"/>
          </a:solidFill>
          <a:ln/>
        </p:spPr>
      </p:sp>
      <p:sp>
        <p:nvSpPr>
          <p:cNvPr id="7" name="Text 5"/>
          <p:cNvSpPr/>
          <p:nvPr/>
        </p:nvSpPr>
        <p:spPr>
          <a:xfrm>
            <a:off x="507987" y="3148675"/>
            <a:ext cx="2565336"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01</a:t>
            </a:r>
            <a:endParaRPr lang="en-US" sz="1800" dirty="0"/>
          </a:p>
        </p:txBody>
      </p:sp>
      <p:sp>
        <p:nvSpPr>
          <p:cNvPr id="8" name="Text 6"/>
          <p:cNvSpPr/>
          <p:nvPr/>
        </p:nvSpPr>
        <p:spPr>
          <a:xfrm>
            <a:off x="507987" y="3629597"/>
            <a:ext cx="2565336" cy="74215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Dataset View</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Display raw </a:t>
            </a:r>
            <a:r>
              <a:rPr lang="en-US" sz="1400" dirty="0">
                <a:solidFill>
                  <a:srgbClr val="10201D"/>
                </a:solidFill>
                <a:highlight>
                  <a:srgbClr val="FFFFFF"/>
                </a:highlight>
                <a:latin typeface="Consolas" pitchFamily="34" charset="0"/>
                <a:ea typeface="Consolas" pitchFamily="34" charset="-122"/>
                <a:cs typeface="Consolas" pitchFamily="34" charset="0"/>
              </a:rPr>
              <a:t>attendance.csv</a:t>
            </a:r>
            <a:r>
              <a:rPr lang="en-US" sz="1400" dirty="0">
                <a:solidFill>
                  <a:srgbClr val="10201D"/>
                </a:solidFill>
                <a:latin typeface="IBM Plex Sans" pitchFamily="34" charset="0"/>
                <a:ea typeface="IBM Plex Sans" pitchFamily="34" charset="-122"/>
                <a:cs typeface="IBM Plex Sans" pitchFamily="34" charset="0"/>
              </a:rPr>
              <a:t> format.</a:t>
            </a:r>
            <a:endParaRPr lang="en-US" sz="1400" dirty="0"/>
          </a:p>
        </p:txBody>
      </p:sp>
      <p:sp>
        <p:nvSpPr>
          <p:cNvPr id="9" name="Text 7"/>
          <p:cNvSpPr/>
          <p:nvPr/>
        </p:nvSpPr>
        <p:spPr>
          <a:xfrm>
            <a:off x="3530512" y="2687638"/>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02</a:t>
            </a:r>
            <a:endParaRPr lang="en-US" sz="1700" dirty="0"/>
          </a:p>
        </p:txBody>
      </p:sp>
      <p:sp>
        <p:nvSpPr>
          <p:cNvPr id="10" name="Shape 8"/>
          <p:cNvSpPr/>
          <p:nvPr/>
        </p:nvSpPr>
        <p:spPr>
          <a:xfrm>
            <a:off x="3530512" y="2989858"/>
            <a:ext cx="2336642" cy="19050"/>
          </a:xfrm>
          <a:prstGeom prst="rect">
            <a:avLst/>
          </a:prstGeom>
          <a:solidFill>
            <a:srgbClr val="083C35"/>
          </a:solidFill>
          <a:ln/>
        </p:spPr>
      </p:sp>
      <p:sp>
        <p:nvSpPr>
          <p:cNvPr id="11" name="Text 9"/>
          <p:cNvSpPr/>
          <p:nvPr/>
        </p:nvSpPr>
        <p:spPr>
          <a:xfrm>
            <a:off x="3530512" y="3148675"/>
            <a:ext cx="2336742"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02</a:t>
            </a:r>
            <a:endParaRPr lang="en-US" sz="1800" dirty="0"/>
          </a:p>
        </p:txBody>
      </p:sp>
      <p:sp>
        <p:nvSpPr>
          <p:cNvPr id="12" name="Text 10"/>
          <p:cNvSpPr/>
          <p:nvPr/>
        </p:nvSpPr>
        <p:spPr>
          <a:xfrm>
            <a:off x="3530512" y="3629597"/>
            <a:ext cx="2336742" cy="74850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HDFS Verification</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Run </a:t>
            </a:r>
            <a:r>
              <a:rPr lang="en-US" sz="1400" dirty="0">
                <a:solidFill>
                  <a:srgbClr val="10201D"/>
                </a:solidFill>
                <a:highlight>
                  <a:srgbClr val="FFFFFF"/>
                </a:highlight>
                <a:latin typeface="Consolas" pitchFamily="34" charset="0"/>
                <a:ea typeface="Consolas" pitchFamily="34" charset="-122"/>
                <a:cs typeface="Consolas" pitchFamily="34" charset="0"/>
              </a:rPr>
              <a:t>hdfs dfs -ls /bda/attendance</a:t>
            </a:r>
            <a:r>
              <a:rPr lang="en-US" sz="1400" dirty="0">
                <a:solidFill>
                  <a:srgbClr val="10201D"/>
                </a:solidFill>
                <a:latin typeface="IBM Plex Sans" pitchFamily="34" charset="0"/>
                <a:ea typeface="IBM Plex Sans" pitchFamily="34" charset="-122"/>
                <a:cs typeface="IBM Plex Sans" pitchFamily="34" charset="0"/>
              </a:rPr>
              <a:t>.</a:t>
            </a:r>
            <a:endParaRPr lang="en-US" sz="1400" dirty="0"/>
          </a:p>
        </p:txBody>
      </p:sp>
      <p:sp>
        <p:nvSpPr>
          <p:cNvPr id="13" name="Text 11"/>
          <p:cNvSpPr/>
          <p:nvPr/>
        </p:nvSpPr>
        <p:spPr>
          <a:xfrm>
            <a:off x="6324442" y="2687638"/>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03</a:t>
            </a:r>
            <a:endParaRPr lang="en-US" sz="1700" dirty="0"/>
          </a:p>
        </p:txBody>
      </p:sp>
      <p:sp>
        <p:nvSpPr>
          <p:cNvPr id="14" name="Shape 12"/>
          <p:cNvSpPr/>
          <p:nvPr/>
        </p:nvSpPr>
        <p:spPr>
          <a:xfrm>
            <a:off x="6324442" y="2989858"/>
            <a:ext cx="2336642" cy="19050"/>
          </a:xfrm>
          <a:prstGeom prst="rect">
            <a:avLst/>
          </a:prstGeom>
          <a:solidFill>
            <a:srgbClr val="083C35"/>
          </a:solidFill>
          <a:ln/>
        </p:spPr>
      </p:sp>
      <p:sp>
        <p:nvSpPr>
          <p:cNvPr id="15" name="Text 13"/>
          <p:cNvSpPr/>
          <p:nvPr/>
        </p:nvSpPr>
        <p:spPr>
          <a:xfrm>
            <a:off x="6324442" y="3148675"/>
            <a:ext cx="2336742"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03</a:t>
            </a:r>
            <a:endParaRPr lang="en-US" sz="1800" dirty="0"/>
          </a:p>
        </p:txBody>
      </p:sp>
      <p:sp>
        <p:nvSpPr>
          <p:cNvPr id="16" name="Text 14"/>
          <p:cNvSpPr/>
          <p:nvPr/>
        </p:nvSpPr>
        <p:spPr>
          <a:xfrm>
            <a:off x="6324442" y="3629597"/>
            <a:ext cx="2336742" cy="73580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Hive Schema</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Show active database &amp; external table metadata.</a:t>
            </a:r>
            <a:endParaRPr lang="en-US" sz="1400" dirty="0"/>
          </a:p>
        </p:txBody>
      </p:sp>
      <p:sp>
        <p:nvSpPr>
          <p:cNvPr id="17" name="Text 15"/>
          <p:cNvSpPr/>
          <p:nvPr/>
        </p:nvSpPr>
        <p:spPr>
          <a:xfrm>
            <a:off x="9118372" y="2687638"/>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04</a:t>
            </a:r>
            <a:endParaRPr lang="en-US" sz="1700" dirty="0"/>
          </a:p>
        </p:txBody>
      </p:sp>
      <p:sp>
        <p:nvSpPr>
          <p:cNvPr id="18" name="Shape 16"/>
          <p:cNvSpPr/>
          <p:nvPr/>
        </p:nvSpPr>
        <p:spPr>
          <a:xfrm>
            <a:off x="9118372" y="2989858"/>
            <a:ext cx="2565237" cy="19050"/>
          </a:xfrm>
          <a:prstGeom prst="rect">
            <a:avLst/>
          </a:prstGeom>
          <a:solidFill>
            <a:srgbClr val="083C35"/>
          </a:solidFill>
          <a:ln/>
        </p:spPr>
      </p:sp>
      <p:sp>
        <p:nvSpPr>
          <p:cNvPr id="19" name="Text 17"/>
          <p:cNvSpPr/>
          <p:nvPr/>
        </p:nvSpPr>
        <p:spPr>
          <a:xfrm>
            <a:off x="9118372" y="3148675"/>
            <a:ext cx="2565336"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04</a:t>
            </a:r>
            <a:endParaRPr lang="en-US" sz="1800" dirty="0"/>
          </a:p>
        </p:txBody>
      </p:sp>
      <p:sp>
        <p:nvSpPr>
          <p:cNvPr id="20" name="Text 18"/>
          <p:cNvSpPr/>
          <p:nvPr/>
        </p:nvSpPr>
        <p:spPr>
          <a:xfrm>
            <a:off x="9118372" y="3629597"/>
            <a:ext cx="2565336" cy="73580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Run Query 1</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Execute subject-wise aggregation script.</a:t>
            </a:r>
            <a:endParaRPr lang="en-US" sz="1400" dirty="0"/>
          </a:p>
        </p:txBody>
      </p:sp>
      <p:sp>
        <p:nvSpPr>
          <p:cNvPr id="21" name="Text 19"/>
          <p:cNvSpPr/>
          <p:nvPr/>
        </p:nvSpPr>
        <p:spPr>
          <a:xfrm>
            <a:off x="507987" y="482996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05</a:t>
            </a:r>
            <a:endParaRPr lang="en-US" sz="1700" dirty="0"/>
          </a:p>
        </p:txBody>
      </p:sp>
      <p:sp>
        <p:nvSpPr>
          <p:cNvPr id="22" name="Shape 20"/>
          <p:cNvSpPr/>
          <p:nvPr/>
        </p:nvSpPr>
        <p:spPr>
          <a:xfrm>
            <a:off x="507987" y="5132189"/>
            <a:ext cx="2565237" cy="19050"/>
          </a:xfrm>
          <a:prstGeom prst="rect">
            <a:avLst/>
          </a:prstGeom>
          <a:solidFill>
            <a:srgbClr val="083C35"/>
          </a:solidFill>
          <a:ln/>
        </p:spPr>
      </p:sp>
      <p:sp>
        <p:nvSpPr>
          <p:cNvPr id="23" name="Text 21"/>
          <p:cNvSpPr/>
          <p:nvPr/>
        </p:nvSpPr>
        <p:spPr>
          <a:xfrm>
            <a:off x="507987" y="5291007"/>
            <a:ext cx="2565336"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05</a:t>
            </a:r>
            <a:endParaRPr lang="en-US" sz="1800" dirty="0"/>
          </a:p>
        </p:txBody>
      </p:sp>
      <p:sp>
        <p:nvSpPr>
          <p:cNvPr id="24" name="Text 22"/>
          <p:cNvSpPr/>
          <p:nvPr/>
        </p:nvSpPr>
        <p:spPr>
          <a:xfrm>
            <a:off x="507987" y="5771928"/>
            <a:ext cx="2565336" cy="73580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Inspect Output</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Validate MapReduce job completion &amp; reducer output.</a:t>
            </a:r>
            <a:endParaRPr lang="en-US" sz="1400" dirty="0"/>
          </a:p>
        </p:txBody>
      </p:sp>
      <p:sp>
        <p:nvSpPr>
          <p:cNvPr id="25" name="Text 23"/>
          <p:cNvSpPr/>
          <p:nvPr/>
        </p:nvSpPr>
        <p:spPr>
          <a:xfrm>
            <a:off x="3530512" y="482996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06</a:t>
            </a:r>
            <a:endParaRPr lang="en-US" sz="1700" dirty="0"/>
          </a:p>
        </p:txBody>
      </p:sp>
      <p:sp>
        <p:nvSpPr>
          <p:cNvPr id="26" name="Shape 24"/>
          <p:cNvSpPr/>
          <p:nvPr/>
        </p:nvSpPr>
        <p:spPr>
          <a:xfrm>
            <a:off x="3530512" y="5132189"/>
            <a:ext cx="2336642" cy="19050"/>
          </a:xfrm>
          <a:prstGeom prst="rect">
            <a:avLst/>
          </a:prstGeom>
          <a:solidFill>
            <a:srgbClr val="083C35"/>
          </a:solidFill>
          <a:ln/>
        </p:spPr>
      </p:sp>
      <p:sp>
        <p:nvSpPr>
          <p:cNvPr id="27" name="Text 25"/>
          <p:cNvSpPr/>
          <p:nvPr/>
        </p:nvSpPr>
        <p:spPr>
          <a:xfrm>
            <a:off x="3530512" y="5291007"/>
            <a:ext cx="2336742"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06</a:t>
            </a:r>
            <a:endParaRPr lang="en-US" sz="1800" dirty="0"/>
          </a:p>
        </p:txBody>
      </p:sp>
      <p:sp>
        <p:nvSpPr>
          <p:cNvPr id="28" name="Text 26"/>
          <p:cNvSpPr/>
          <p:nvPr/>
        </p:nvSpPr>
        <p:spPr>
          <a:xfrm>
            <a:off x="3530512" y="5771928"/>
            <a:ext cx="2336742" cy="73580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Run Query 2</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Execute the &lt;75% shortage detection script.</a:t>
            </a:r>
            <a:endParaRPr lang="en-US" sz="1400" dirty="0"/>
          </a:p>
        </p:txBody>
      </p:sp>
      <p:sp>
        <p:nvSpPr>
          <p:cNvPr id="29" name="Text 27"/>
          <p:cNvSpPr/>
          <p:nvPr/>
        </p:nvSpPr>
        <p:spPr>
          <a:xfrm>
            <a:off x="6324442" y="482996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07</a:t>
            </a:r>
            <a:endParaRPr lang="en-US" sz="1700" dirty="0"/>
          </a:p>
        </p:txBody>
      </p:sp>
      <p:sp>
        <p:nvSpPr>
          <p:cNvPr id="30" name="Shape 28"/>
          <p:cNvSpPr/>
          <p:nvPr/>
        </p:nvSpPr>
        <p:spPr>
          <a:xfrm>
            <a:off x="6324442" y="5132189"/>
            <a:ext cx="2336642" cy="19050"/>
          </a:xfrm>
          <a:prstGeom prst="rect">
            <a:avLst/>
          </a:prstGeom>
          <a:solidFill>
            <a:srgbClr val="083C35"/>
          </a:solidFill>
          <a:ln/>
        </p:spPr>
      </p:sp>
      <p:sp>
        <p:nvSpPr>
          <p:cNvPr id="31" name="Text 29"/>
          <p:cNvSpPr/>
          <p:nvPr/>
        </p:nvSpPr>
        <p:spPr>
          <a:xfrm>
            <a:off x="6324442" y="5291007"/>
            <a:ext cx="2336742"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07</a:t>
            </a:r>
            <a:endParaRPr lang="en-US" sz="1800" dirty="0"/>
          </a:p>
        </p:txBody>
      </p:sp>
      <p:sp>
        <p:nvSpPr>
          <p:cNvPr id="32" name="Text 30"/>
          <p:cNvSpPr/>
          <p:nvPr/>
        </p:nvSpPr>
        <p:spPr>
          <a:xfrm>
            <a:off x="6324442" y="5771928"/>
            <a:ext cx="2336742" cy="73580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Chart Visual</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Present generated trends and distribution charts.</a:t>
            </a:r>
            <a:endParaRPr lang="en-US" sz="1400" dirty="0"/>
          </a:p>
        </p:txBody>
      </p:sp>
      <p:sp>
        <p:nvSpPr>
          <p:cNvPr id="33" name="Text 31"/>
          <p:cNvSpPr/>
          <p:nvPr/>
        </p:nvSpPr>
        <p:spPr>
          <a:xfrm>
            <a:off x="9118372" y="482996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0"/>
              </a:rPr>
              <a:t>08</a:t>
            </a:r>
            <a:endParaRPr lang="en-US" sz="1700" dirty="0"/>
          </a:p>
        </p:txBody>
      </p:sp>
      <p:sp>
        <p:nvSpPr>
          <p:cNvPr id="34" name="Shape 32"/>
          <p:cNvSpPr/>
          <p:nvPr/>
        </p:nvSpPr>
        <p:spPr>
          <a:xfrm>
            <a:off x="9118372" y="5132189"/>
            <a:ext cx="2565237" cy="19050"/>
          </a:xfrm>
          <a:prstGeom prst="rect">
            <a:avLst/>
          </a:prstGeom>
          <a:solidFill>
            <a:srgbClr val="083C35"/>
          </a:solidFill>
          <a:ln/>
        </p:spPr>
      </p:sp>
      <p:sp>
        <p:nvSpPr>
          <p:cNvPr id="35" name="Text 33"/>
          <p:cNvSpPr/>
          <p:nvPr/>
        </p:nvSpPr>
        <p:spPr>
          <a:xfrm>
            <a:off x="9118372" y="5291007"/>
            <a:ext cx="2565336"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Stage 08</a:t>
            </a:r>
            <a:endParaRPr lang="en-US" sz="1800" dirty="0"/>
          </a:p>
        </p:txBody>
      </p:sp>
      <p:sp>
        <p:nvSpPr>
          <p:cNvPr id="36" name="Text 34"/>
          <p:cNvSpPr/>
          <p:nvPr/>
        </p:nvSpPr>
        <p:spPr>
          <a:xfrm>
            <a:off x="9118372" y="5771928"/>
            <a:ext cx="2565336" cy="735806"/>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0"/>
              </a:rPr>
              <a:t>Academic Insight</a:t>
            </a:r>
            <a:endParaRPr lang="en-US" sz="1400" dirty="0"/>
          </a:p>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Deliver administrative summary &amp; findings.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2549156-AC0B-1017-CD5B-412C71E72C4A}"/>
              </a:ext>
            </a:extLst>
          </p:cNvPr>
          <p:cNvPicPr>
            <a:picLocks noChangeAspect="1"/>
          </p:cNvPicPr>
          <p:nvPr/>
        </p:nvPicPr>
        <p:blipFill>
          <a:blip r:embed="rId3"/>
          <a:stretch>
            <a:fillRect/>
          </a:stretch>
        </p:blipFill>
        <p:spPr>
          <a:xfrm>
            <a:off x="10843143" y="6417120"/>
            <a:ext cx="1348857" cy="434378"/>
          </a:xfrm>
          <a:prstGeom prst="rect">
            <a:avLst/>
          </a:prstGeom>
        </p:spPr>
      </p:pic>
      <p:pic>
        <p:nvPicPr>
          <p:cNvPr id="2" name="Image 0" descr="preencoded.png"/>
          <p:cNvPicPr>
            <a:picLocks noChangeAspect="1"/>
          </p:cNvPicPr>
          <p:nvPr/>
        </p:nvPicPr>
        <p:blipFill>
          <a:blip r:embed="rId4"/>
          <a:stretch>
            <a:fillRect/>
          </a:stretch>
        </p:blipFill>
        <p:spPr>
          <a:xfrm>
            <a:off x="0" y="0"/>
            <a:ext cx="4063898" cy="6858000"/>
          </a:xfrm>
          <a:prstGeom prst="rect">
            <a:avLst/>
          </a:prstGeom>
        </p:spPr>
      </p:pic>
      <p:sp>
        <p:nvSpPr>
          <p:cNvPr id="3" name="Text 0"/>
          <p:cNvSpPr/>
          <p:nvPr/>
        </p:nvSpPr>
        <p:spPr>
          <a:xfrm>
            <a:off x="4470288" y="415480"/>
            <a:ext cx="7721407"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0"/>
              </a:rPr>
              <a:t>EVALUATION &amp; ROADMAP</a:t>
            </a:r>
            <a:endParaRPr lang="en-US" sz="1100" dirty="0"/>
          </a:p>
        </p:txBody>
      </p:sp>
      <p:sp>
        <p:nvSpPr>
          <p:cNvPr id="4" name="Text 1"/>
          <p:cNvSpPr/>
          <p:nvPr/>
        </p:nvSpPr>
        <p:spPr>
          <a:xfrm>
            <a:off x="4470288" y="714347"/>
            <a:ext cx="7264218" cy="915392"/>
          </a:xfrm>
          <a:prstGeom prst="rect">
            <a:avLst/>
          </a:prstGeom>
          <a:noFill/>
          <a:ln/>
        </p:spPr>
        <p:txBody>
          <a:bodyPr wrap="square" lIns="0" tIns="0" rIns="0" bIns="0" rtlCol="0" anchor="t">
            <a:normAutofit lnSpcReduction="10000"/>
          </a:bodyPr>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0"/>
              </a:rPr>
              <a:t>Advantages, limitations &amp; future enhancements</a:t>
            </a:r>
            <a:endParaRPr lang="en-US" sz="3400" dirty="0"/>
          </a:p>
        </p:txBody>
      </p:sp>
      <p:sp>
        <p:nvSpPr>
          <p:cNvPr id="5" name="Shape 2"/>
          <p:cNvSpPr/>
          <p:nvPr/>
        </p:nvSpPr>
        <p:spPr>
          <a:xfrm>
            <a:off x="4470288" y="2430165"/>
            <a:ext cx="7264218" cy="1255812"/>
          </a:xfrm>
          <a:prstGeom prst="roundRect">
            <a:avLst>
              <a:gd name="adj" fmla="val 1698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6" name="Text 3"/>
          <p:cNvSpPr/>
          <p:nvPr/>
        </p:nvSpPr>
        <p:spPr>
          <a:xfrm>
            <a:off x="4660783" y="2580152"/>
            <a:ext cx="6883228"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Key Advantages</a:t>
            </a:r>
            <a:endParaRPr lang="en-US" sz="1800" dirty="0"/>
          </a:p>
        </p:txBody>
      </p:sp>
      <p:sp>
        <p:nvSpPr>
          <p:cNvPr id="7" name="Text 4"/>
          <p:cNvSpPr/>
          <p:nvPr/>
        </p:nvSpPr>
        <p:spPr>
          <a:xfrm>
            <a:off x="4660783" y="3061073"/>
            <a:ext cx="6883228" cy="490537"/>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Real-world academic problem; Hadoop ecosystem usage; SQL-like analytics; scalable concept; extensible.</a:t>
            </a:r>
            <a:endParaRPr lang="en-US" sz="1400" dirty="0"/>
          </a:p>
        </p:txBody>
      </p:sp>
      <p:sp>
        <p:nvSpPr>
          <p:cNvPr id="8" name="Shape 5"/>
          <p:cNvSpPr/>
          <p:nvPr/>
        </p:nvSpPr>
        <p:spPr>
          <a:xfrm>
            <a:off x="4470288" y="3838377"/>
            <a:ext cx="7264218" cy="1255812"/>
          </a:xfrm>
          <a:prstGeom prst="roundRect">
            <a:avLst>
              <a:gd name="adj" fmla="val 1698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9" name="Text 6"/>
          <p:cNvSpPr/>
          <p:nvPr/>
        </p:nvSpPr>
        <p:spPr>
          <a:xfrm>
            <a:off x="4660783" y="3988364"/>
            <a:ext cx="6883228"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0"/>
              </a:rPr>
              <a:t>Current Constraints</a:t>
            </a:r>
            <a:endParaRPr lang="en-US" sz="1800" dirty="0"/>
          </a:p>
        </p:txBody>
      </p:sp>
      <p:sp>
        <p:nvSpPr>
          <p:cNvPr id="10" name="Text 7"/>
          <p:cNvSpPr/>
          <p:nvPr/>
        </p:nvSpPr>
        <p:spPr>
          <a:xfrm>
            <a:off x="4660783" y="4469285"/>
            <a:ext cx="6883228" cy="490537"/>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0"/>
              </a:rPr>
              <a:t>Single-node setup; data quality dependence; descriptive, not predictive; synthetic data; privacy/security needed in production.</a:t>
            </a:r>
            <a:endParaRPr lang="en-US" sz="1400" dirty="0"/>
          </a:p>
        </p:txBody>
      </p:sp>
      <p:sp>
        <p:nvSpPr>
          <p:cNvPr id="11" name="Shape 8"/>
          <p:cNvSpPr/>
          <p:nvPr/>
        </p:nvSpPr>
        <p:spPr>
          <a:xfrm>
            <a:off x="4470288" y="5246588"/>
            <a:ext cx="7264218" cy="1255812"/>
          </a:xfrm>
          <a:prstGeom prst="roundRect">
            <a:avLst>
              <a:gd name="adj" fmla="val 16989"/>
            </a:avLst>
          </a:prstGeom>
          <a:solidFill>
            <a:srgbClr val="083C35"/>
          </a:solidFill>
          <a:ln w="12700">
            <a:solidFill>
              <a:srgbClr val="CBD4CE"/>
            </a:solidFill>
            <a:prstDash val="solid"/>
          </a:ln>
          <a:effectLst>
            <a:outerShdw blurRad="227330" dist="74930" dir="5400000" algn="bl" rotWithShape="0">
              <a:srgbClr val="083C35">
                <a:alpha val="10000"/>
              </a:srgbClr>
            </a:outerShdw>
          </a:effectLst>
        </p:spPr>
      </p:sp>
      <p:sp>
        <p:nvSpPr>
          <p:cNvPr id="12" name="Text 9"/>
          <p:cNvSpPr/>
          <p:nvPr/>
        </p:nvSpPr>
        <p:spPr>
          <a:xfrm>
            <a:off x="4660783" y="5396575"/>
            <a:ext cx="6883228" cy="301724"/>
          </a:xfrm>
          <a:prstGeom prst="rect">
            <a:avLst/>
          </a:prstGeom>
          <a:noFill/>
          <a:ln/>
        </p:spPr>
        <p:txBody>
          <a:bodyPr wrap="none" lIns="0" tIns="0" rIns="0" bIns="0" rtlCol="0" anchor="t"/>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0"/>
              </a:rPr>
              <a:t>Future Roadmap</a:t>
            </a:r>
            <a:endParaRPr lang="en-US" sz="1800" dirty="0"/>
          </a:p>
        </p:txBody>
      </p:sp>
      <p:sp>
        <p:nvSpPr>
          <p:cNvPr id="13" name="Text 10"/>
          <p:cNvSpPr/>
          <p:nvPr/>
        </p:nvSpPr>
        <p:spPr>
          <a:xfrm>
            <a:off x="4660783" y="5877497"/>
            <a:ext cx="6883228" cy="490537"/>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FFFFFF"/>
                </a:solidFill>
                <a:latin typeface="IBM Plex Sans" pitchFamily="34" charset="0"/>
                <a:ea typeface="IBM Plex Sans" pitchFamily="34" charset="-122"/>
                <a:cs typeface="IBM Plex Sans" pitchFamily="34" charset="0"/>
              </a:rPr>
              <a:t>Interactive dashboard; automated ingestion; semester comparison; low-attendance alerts; predictive analysis with Spark/ML; multi-node/cloud deployment.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7721407" cy="6858000"/>
          </a:xfrm>
          <a:prstGeom prst="rect">
            <a:avLst/>
          </a:prstGeom>
          <a:solidFill>
            <a:srgbClr val="083C35"/>
          </a:solidFill>
          <a:ln/>
        </p:spPr>
      </p:sp>
      <p:sp>
        <p:nvSpPr>
          <p:cNvPr id="3" name="Text 1"/>
          <p:cNvSpPr/>
          <p:nvPr/>
        </p:nvSpPr>
        <p:spPr>
          <a:xfrm>
            <a:off x="558786" y="466280"/>
            <a:ext cx="7162621"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0"/>
              </a:rPr>
              <a:t>ACADEMIC SUMMARY</a:t>
            </a:r>
            <a:endParaRPr lang="en-US" sz="1100" dirty="0"/>
          </a:p>
        </p:txBody>
      </p:sp>
      <p:sp>
        <p:nvSpPr>
          <p:cNvPr id="4" name="Text 2"/>
          <p:cNvSpPr/>
          <p:nvPr/>
        </p:nvSpPr>
        <p:spPr>
          <a:xfrm>
            <a:off x="558786" y="765147"/>
            <a:ext cx="6705432"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FFFFFF"/>
                </a:solidFill>
                <a:latin typeface="Sora Bold" pitchFamily="34" charset="0"/>
                <a:ea typeface="Sora Bold" pitchFamily="34" charset="-122"/>
                <a:cs typeface="Sora Bold" pitchFamily="34" charset="0"/>
              </a:rPr>
              <a:t>Conclusion and references</a:t>
            </a:r>
            <a:endParaRPr lang="en-US" sz="3400" dirty="0"/>
          </a:p>
        </p:txBody>
      </p:sp>
      <p:sp>
        <p:nvSpPr>
          <p:cNvPr id="5" name="Text 3"/>
          <p:cNvSpPr/>
          <p:nvPr/>
        </p:nvSpPr>
        <p:spPr>
          <a:xfrm>
            <a:off x="558786" y="1450110"/>
            <a:ext cx="6705432"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FFFFFF"/>
                </a:solidFill>
                <a:latin typeface="IBM Plex Sans" pitchFamily="34" charset="0"/>
                <a:ea typeface="IBM Plex Sans" pitchFamily="34" charset="-122"/>
                <a:cs typeface="IBM Plex Sans" pitchFamily="34" charset="0"/>
              </a:rPr>
              <a:t>Hive on HDFS provides a practical Hadoop-based approach to turn attendance records into academic analytics: Problem → Hadoop implementation → HiveQL → Results → Interpretation.</a:t>
            </a:r>
            <a:endParaRPr lang="en-US" sz="1700" dirty="0"/>
          </a:p>
        </p:txBody>
      </p:sp>
      <p:sp>
        <p:nvSpPr>
          <p:cNvPr id="6" name="Text 4"/>
          <p:cNvSpPr/>
          <p:nvPr/>
        </p:nvSpPr>
        <p:spPr>
          <a:xfrm>
            <a:off x="558786" y="4258139"/>
            <a:ext cx="6705432" cy="301724"/>
          </a:xfrm>
          <a:prstGeom prst="rect">
            <a:avLst/>
          </a:prstGeom>
          <a:noFill/>
          <a:ln/>
        </p:spPr>
        <p:txBody>
          <a:bodyPr wrap="none" lIns="0" tIns="0" rIns="0" bIns="0" rtlCol="0" anchor="t"/>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0"/>
              </a:rPr>
              <a:t>Key References</a:t>
            </a:r>
            <a:endParaRPr lang="en-US" sz="1800" dirty="0"/>
          </a:p>
        </p:txBody>
      </p:sp>
      <p:sp>
        <p:nvSpPr>
          <p:cNvPr id="7" name="Text 5"/>
          <p:cNvSpPr/>
          <p:nvPr/>
        </p:nvSpPr>
        <p:spPr>
          <a:xfrm>
            <a:off x="558786" y="4733727"/>
            <a:ext cx="6705432" cy="1743273"/>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Apache Hadoop Documentation</a:t>
            </a:r>
            <a:endParaRPr lang="en-US" sz="1700" dirty="0"/>
          </a:p>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Apache Hive Documentation</a:t>
            </a:r>
            <a:endParaRPr lang="en-US" sz="1700" dirty="0"/>
          </a:p>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Apache Hive Language Manual</a:t>
            </a:r>
            <a:endParaRPr lang="en-US" sz="1700" dirty="0"/>
          </a:p>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Apache Hadoop MapReduce Documentation</a:t>
            </a:r>
            <a:endParaRPr lang="en-US" sz="1700" dirty="0"/>
          </a:p>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0"/>
              </a:rPr>
              <a:t>Institution BDA course material</a:t>
            </a:r>
            <a:endParaRPr lang="en-US" sz="1700" dirty="0"/>
          </a:p>
        </p:txBody>
      </p:sp>
      <p:pic>
        <p:nvPicPr>
          <p:cNvPr id="8" name="Image 0" descr="preencoded.png"/>
          <p:cNvPicPr>
            <a:picLocks noChangeAspect="1"/>
          </p:cNvPicPr>
          <p:nvPr/>
        </p:nvPicPr>
        <p:blipFill>
          <a:blip r:embed="rId3"/>
          <a:stretch>
            <a:fillRect/>
          </a:stretch>
        </p:blipFill>
        <p:spPr>
          <a:xfrm>
            <a:off x="7721407" y="0"/>
            <a:ext cx="447028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1308</Words>
  <Application>Microsoft Office PowerPoint</Application>
  <PresentationFormat>Widescreen</PresentationFormat>
  <Paragraphs>172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IBM Plex Sans SemiBold</vt:lpstr>
      <vt:lpstr>Sora Bold</vt:lpstr>
      <vt:lpstr>IBM Plex Sans</vt:lpstr>
      <vt:lpstr>IBM Plex Sans Bold</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Charan P</cp:lastModifiedBy>
  <cp:revision>3</cp:revision>
  <dcterms:created xsi:type="dcterms:W3CDTF">2026-10-30T02:08:52Z</dcterms:created>
  <dcterms:modified xsi:type="dcterms:W3CDTF">2026-10-30T02:18:14Z</dcterms:modified>
</cp:coreProperties>
</file>